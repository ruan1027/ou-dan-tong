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2" Type="http://schemas.openxmlformats.org/officeDocument/2006/relationships/slide" Target="slides/slide2.xml" /><Relationship Id="rId11" Type="http://schemas.openxmlformats.org/officeDocument/2006/relationships/notesMaster" Target="notesMasters/notesMaster1.xml" /><Relationship Id="rId13" Type="http://schemas.openxmlformats.org/officeDocument/2006/relationships/tableStyles" Target="tableStyles.xml" /><Relationship Id="rId12" Type="http://schemas.openxmlformats.org/officeDocument/2006/relationships/presProps" Target="presProps.xml" /><Relationship Id="rId14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0F172A', padding: 0, position: 'relative', overflow: 'hidden' }}&gt;&#10;  &lt;Box style={{ position: 'absolute', top: 0, right: 0, width: 640, height: 720, background: 'linear-gradient(160deg, #3B82F6 0%, #06B6D4 100%)', opacity: 0.95, flexDirection: 'column', justifyContent: 'center', alignItems: 'center' }}&gt;&#10;    &lt;Text style={{ fontSize: 120, fontWeight: 'bold', color: 'rgba(255,255,255,0.22)', lineHeight: 1 }}&gt;2026&lt;/Text&gt;&#10;    &lt;Text style={{ fontSize: 24, color: 'rgba(255,255,255,0.55)', letterSpacing: 8, marginTop: 8 }}&gt;企业智能体&lt;/Text&gt;&#10;  &lt;/Box&gt;&#10;  &lt;Box style={{ position: 'absolute', top: 0, right: 640, width: 2, height: 720, background: 'rgba(247,244,236,0.10)' }} /&gt;&#10;  &lt;Box style={{ position: 'relative', zIndex: 2, flexDirection: 'column', justifyContent: 'center', height: 720, paddingLeft: 84, paddingRight: 700 }}&gt;&#10;    &lt;Text style={{ fontSize: 15, color: '#06B6D4', letterSpacing: 5, fontWeight: 'bold' }}&gt;INTERCITY HACK 2026 · AI＋企业智能体赛道&lt;/Text&gt;&#10;    &lt;Text style={{ fontSize: 88, fontWeight: 'bold', color: '#F7F4EC', lineHeight: 1.05, marginTop: 18 }}&gt;瓯单通&lt;/Text&gt;&#10;    &lt;Text style={{ fontSize: 28, color: '#CBD5E1', marginTop: 12 }}&gt;碎片化沟通中的订单与任务协同&lt;/Text&gt;&#10;    &lt;Box style={{ width: 64, height: 4, background: '#06B6D4', marginTop: 30, borderRadius: 2 }} /&gt;&#10;    &lt;Text style={{ fontSize: 18, color: '#94A3B8', marginTop: 26, lineHeight: 1.75 }}&gt;把微信群里的订单与任务，自动变成实时、可查询、可提醒的协同台账&lt;br /&gt;不用上 ERP，也不改变老板用微信的习惯&lt;/Text&gt;&#10;    &lt;Text style={{ fontSize: 15, color: '#64748B', marginTop: 42 }}&gt;队伍 XO ｜ 温州大学 ｜ 2026.10.2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0" y="0"/>
            <a:ext cx="6096000" cy="6858000"/>
          </a:xfrm>
          <a:prstGeom prst="rect">
            <a:avLst/>
          </a:prstGeom>
          <a:gradFill>
            <a:gsLst>
              <a:gs pos="0">
                <a:srgbClr val="3B82F6">
                  <a:alpha val="95000"/>
                </a:srgbClr>
              </a:gs>
              <a:gs pos="100000">
                <a:srgbClr val="06B6D4">
                  <a:alpha val="95000"/>
                </a:srgbClr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734300" y="2571750"/>
            <a:ext cx="2828925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FFFFFF">
                    <a:alpha val="20900"/>
                  </a:srgbClr>
                </a:solidFill>
                <a:latin typeface="Microsoft YaHei"/>
                <a:ea typeface="Microsoft YaHei"/>
              </a:rPr>
              <a:t>2026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382000" y="4019550"/>
            <a:ext cx="1524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600">
                <a:solidFill>
                  <a:srgbClr val="FFFFFF">
                    <a:alpha val="52250"/>
                  </a:srgbClr>
                </a:solidFill>
                <a:latin typeface="Microsoft YaHei"/>
                <a:ea typeface="Microsoft YaHei"/>
              </a:rPr>
              <a:t>企业智能体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76950" y="0"/>
            <a:ext cx="19050" cy="6858000"/>
          </a:xfrm>
          <a:prstGeom prst="rect">
            <a:avLst/>
          </a:prstGeom>
          <a:solidFill>
            <a:srgbClr val="F7F4EC">
              <a:alpha val="10000"/>
            </a:srgbClr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00100" y="1400175"/>
            <a:ext cx="472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375">
                <a:solidFill>
                  <a:srgbClr val="06B6D4"/>
                </a:solidFill>
                <a:latin typeface="Microsoft YaHei"/>
                <a:ea typeface="Microsoft YaHei"/>
              </a:rPr>
              <a:t>INTERCITY HACK 2026 · AI</a:t>
            </a:r>
            <a:r>
              <a:rPr lang="zh-CN" sz="1125" b="1" spc="375">
                <a:solidFill>
                  <a:srgbClr val="06B6D4"/>
                </a:solidFill>
                <a:latin typeface="Microsoft YaHei"/>
                <a:ea typeface="Microsoft YaHei"/>
              </a:rPr>
              <a:t>＋企业智能体赛道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00100" y="1743075"/>
            <a:ext cx="4724400" cy="10572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zh-CN" sz="6600" b="1">
                <a:solidFill>
                  <a:srgbClr val="F7F4EC"/>
                </a:solidFill>
                <a:latin typeface="Microsoft YaHei"/>
                <a:ea typeface="Microsoft YaHei"/>
              </a:rPr>
              <a:t>瓯单通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00100" y="2914650"/>
            <a:ext cx="4724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CBD5E1"/>
                </a:solidFill>
                <a:latin typeface="Microsoft YaHei"/>
                <a:ea typeface="Microsoft YaHei"/>
              </a:rPr>
              <a:t>碎片化沟通中的订单与任务协同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800100" y="352425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00100" y="3810000"/>
            <a:ext cx="47244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把微信群里的订单与任务，自动变成实时、可查询、可提醒的协同台账</a:t>
            </a:r>
            <a:endParaRPr/>
          </a:p>
          <a:p>
            <a:pPr>
              <a:lnSpc>
                <a:spcPct val="175000"/>
              </a:lnSpc>
            </a:pP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不用上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 xml:space="preserve"> ERP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，也不改变老板用微信的习惯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00100" y="5295900"/>
            <a:ext cx="472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队伍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XO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｜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温州大学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｜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2026.10.24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0" name="" descr="&lt;Slide style={{ width: 1280, height: 720, background: '#0F172A', padding: '40px 72px', flexDirection: 'column' }}&gt;&#10;  &lt;Box style={{ height: 84, flexDirection: 'column', justifyContent: 'center' }}&gt;&#10;    &lt;Text style={{ fontSize: 34, fontWeight: 'bold', color: '#F7F4EC' }}&gt;微信群接单跟单，卡在四个地方&lt;/Text&gt;&#10;    &lt;Text style={{ fontSize: 16, color: '#94A3B8', marginTop: 6 }}&gt;温州中小制造/贸易企业的真实日常：没有 ERP，订单与交期全散在聊天记录里&lt;/Text&gt;&#10;  &lt;/Box&gt;&#10;  &lt;Box style={{ flex: 1, flexDirection: 'row', flexWrap: 'wrap', gap: 20 }}&gt;&#10;    &lt;Box style={{ width: 558, height: 248, background: 'rgba(247,244,236,0.06)', border: '1px solid rgba(247,244,236,0.14)', borderRadius: 12, padding: 22, flexDirection: 'column', gap: 8 }}&gt;&#10;      &lt;Box style={{ flexDirection: 'row', alignItems: 'center', gap: 12 }}&gt;&#10;        &lt;Text style={{ fontSize: 30, fontWeight: 'bold', color: '#06B6D4', fontFamily: 'Consolas' }}&gt;01&lt;/Text&gt;&#10;        &lt;Text style={{ fontSize: 21, fontWeight: 'bold', color: '#F7F4EC' }}&gt;漏单&lt;/Text&gt;&#10;      &lt;/Box&gt;&#10;      &lt;Text style={{ fontSize: 15, color: '#94A3B8', lineHeight: 1.65 }}&gt;客户在群里说「再帮我排上一批」，消息几秒就被刷走；没人当场把它落成一张单。等交付那天核对，才发现这一笔从头到尾没人跟。&lt;/Text&gt;&#10;      &lt;Text style={{ fontSize: 14, color: '#06B6D4' }}&gt;→ 交付少货、客户流失&lt;/Text&gt;&#10;      &lt;Text style={{ fontSize: 13, color: '#64748B', marginTop: 'auto', fontStyle: 'italic' }}&gt;「再帮我排上一批，我这边急」&lt;/Text&gt;&#10;    &lt;/Box&gt;&#10;    &lt;Box style={{ width: 558, height: 248, background: 'rgba(247,244,236,0.06)', border: '1px solid rgba(247,244,236,0.14)', borderRadius: 12, padding: 22, flexDirection: 'column', gap: 8 }}&gt;&#10;      &lt;Box style={{ flexDirection: 'row', alignItems: 'center', gap: 12 }}&gt;&#10;        &lt;Text style={{ fontSize: 30, fontWeight: 'bold', color: '#06B6D4', fontFamily: 'Consolas' }}&gt;02&lt;/Text&gt;&#10;        &lt;Text style={{ fontSize: 21, fontWeight: 'bold', color: '#F7F4EC' }}&gt;错单&lt;/Text&gt;&#10;      &lt;/Box&gt;&#10;      &lt;Text style={{ fontSize: 15, color: '#94A3B8', lineHeight: 1.65 }}&gt;改数量、改交期全靠口头，几个人各记各的；台账和小票对不上。越改越乱，最后谁也不敢确定哪个数字才是准的。&lt;/Text&gt;&#10;      &lt;Text style={{ fontSize: 14, color: '#06B6D4' }}&gt;→ 返工、对账扯皮&lt;/Text&gt;&#10;      &lt;Text style={{ fontSize: 13, color: '#64748B', marginTop: 'auto', fontStyle: 'italic' }}&gt;「不是早就改成 80 个了吗？」&lt;/Text&gt;&#10;    &lt;/Box&gt;&#10;    &lt;Box style={{ width: 558, height: 248, background: 'rgba(247,244,236,0.06)', border: '1px solid rgba(247,244,236,0.14)', borderRadius: 12, padding: 22, flexDirection: 'column', gap: 8 }}&gt;&#10;      &lt;Box style={{ flexDirection: 'row', alignItems: 'center', gap: 12 }}&gt;&#10;        &lt;Text style={{ fontSize: 30, fontWeight: 'bold', color: '#06B6D4', fontFamily: 'Consolas' }}&gt;03&lt;/Text&gt;&#10;        &lt;Text style={{ fontSize: 21, fontWeight: 'bold', color: '#F7F4EC' }}&gt;交期误判&lt;/Text&gt;&#10;      &lt;/Box&gt;&#10;      &lt;Text style={{ fontSize: 15, color: '#94A3B8', lineHeight: 1.65 }}&gt;谁快到期、谁已经逾期，全凭人脑记；排产靠感觉、催单靠运气。等客户催上门，才知道这单明天就该交。&lt;/Text&gt;&#10;      &lt;Text style={{ fontSize: 14, color: '#06B6D4' }}&gt;→ 逾期赔付、信任受损&lt;/Text&gt;&#10;      &lt;Text style={{ fontSize: 13, color: '#64748B', marginTop: 'auto', fontStyle: 'italic' }}&gt;「明天就要，你们怎么还没发？」&lt;/Text&gt;&#10;    &lt;/Box&gt;&#10;    &lt;Box style={{ width: 558, height: 248, background: 'rgba(247,244,236,0.06)', border: '1px solid rgba(247,244,236,0.14)', borderRadius: 12, padding: 22, flexDirection: 'column', gap: 8 }}&gt;&#10;      &lt;Box style={{ flexDirection: 'row', alignItems: 'center', gap: 12 }}&gt;&#10;        &lt;Text style={{ fontSize: 30, fontWeight: 'bold', color: '#06B6D4', fontFamily: 'Consolas' }}&gt;04&lt;/Text&gt;&#10;        &lt;Text style={{ fontSize: 21, fontWeight: 'bold', color: '#F7F4EC' }}&gt;查不到&lt;/Text&gt;&#10;      &lt;/Box&gt;&#10;      &lt;Text style={{ fontSize: 15, color: '#94A3B8', lineHeight: 1.65 }}&gt;老板问「李姐那批 DZ47 到哪了」，要翻半天聊天记录才能拼出个大概，还不敢保证准；决策只能靠猜。&lt;/Text&gt;&#10;      &lt;Text style={{ fontSize: 14, color: '#06B6D4' }}&gt;→ 回复慢、决策靠猜&lt;/Text&gt;&#10;      &lt;Text style={{ fontSize: 13, color: '#64748B', marginTop: 'auto', fontStyle: 'italic' }}&gt;「那批货到底走到哪一步了？」&lt;/Text&gt;&#10;    &lt;/Box&gt;&#10;  &lt;/Box&gt;&#10;  &lt;Box style={{ height: 36, flexDirection: 'row', justifyContent: 'space-between', alignItems: 'center' }}&gt;&#10;    &lt;Text style={{ fontSize: 14, color: '#64748B' }}&gt;瓯单通 · 企业智能体赛道 · 队伍 XO&lt;/Text&gt;&#10;    &lt;Text style={{ fontSize: 14, color: '#64748B' }}&gt;02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85800" y="46672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微信群接单跟单，卡在四个地方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85800" y="914400"/>
            <a:ext cx="1082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温州中小制造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贸易企业的真实日常：没有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ERP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，订单与交期全散在聊天记录里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685800" y="1181100"/>
            <a:ext cx="5314950" cy="2362200"/>
          </a:xfrm>
          <a:prstGeom prst="roundRect">
            <a:avLst>
              <a:gd name="adj" fmla="val 4839"/>
            </a:avLst>
          </a:prstGeom>
          <a:solidFill>
            <a:srgbClr val="F7F4EC">
              <a:alpha val="6000"/>
            </a:srgbClr>
          </a:solidFill>
          <a:ln w="12700">
            <a:solidFill>
              <a:srgbClr val="F7F4EC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95350" y="1390650"/>
            <a:ext cx="3143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6B6D4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323975" y="1438275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7F4EC"/>
                </a:solidFill>
                <a:latin typeface="Microsoft YaHei"/>
                <a:ea typeface="Microsoft YaHei"/>
              </a:rPr>
              <a:t>漏单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95350" y="1809750"/>
            <a:ext cx="48958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客户在群里说「再帮我排上一批」，消息几秒就被刷走；没人当场把它落成一张单。等交付那天核对，才发现这一笔从头到尾没人跟。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95350" y="2457450"/>
            <a:ext cx="4895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6B6D4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050">
                <a:solidFill>
                  <a:srgbClr val="06B6D4"/>
                </a:solidFill>
                <a:latin typeface="Microsoft YaHei"/>
                <a:ea typeface="Microsoft YaHei"/>
              </a:rPr>
              <a:t>交付少货、客户流失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95350" y="3181350"/>
            <a:ext cx="489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i="1">
                <a:solidFill>
                  <a:srgbClr val="64748B"/>
                </a:solidFill>
                <a:latin typeface="Microsoft YaHei"/>
                <a:ea typeface="Microsoft YaHei"/>
              </a:rPr>
              <a:t>「再帮我排上一批，我这边急」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191250" y="1181100"/>
            <a:ext cx="5314950" cy="2362200"/>
          </a:xfrm>
          <a:prstGeom prst="roundRect">
            <a:avLst>
              <a:gd name="adj" fmla="val 4839"/>
            </a:avLst>
          </a:prstGeom>
          <a:solidFill>
            <a:srgbClr val="F7F4EC">
              <a:alpha val="6000"/>
            </a:srgbClr>
          </a:solidFill>
          <a:ln w="12700">
            <a:solidFill>
              <a:srgbClr val="F7F4EC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400800" y="1390650"/>
            <a:ext cx="3143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6B6D4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829425" y="1438275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7F4EC"/>
                </a:solidFill>
                <a:latin typeface="Microsoft YaHei"/>
                <a:ea typeface="Microsoft YaHei"/>
              </a:rPr>
              <a:t>错单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400800" y="1809750"/>
            <a:ext cx="48958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改数量、改交期全靠口头，几个人各记各的；台账和小票对不上。越改越乱，最后谁也不敢确定哪个数字才是准的。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400800" y="2457450"/>
            <a:ext cx="4895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6B6D4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050">
                <a:solidFill>
                  <a:srgbClr val="06B6D4"/>
                </a:solidFill>
                <a:latin typeface="Microsoft YaHei"/>
                <a:ea typeface="Microsoft YaHei"/>
              </a:rPr>
              <a:t>返工、对账扯皮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400800" y="3181350"/>
            <a:ext cx="489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i="1">
                <a:solidFill>
                  <a:srgbClr val="64748B"/>
                </a:solidFill>
                <a:latin typeface="Microsoft YaHei"/>
                <a:ea typeface="Microsoft YaHei"/>
              </a:rPr>
              <a:t>「不是早就改成</a:t>
            </a:r>
            <a:r>
              <a:rPr lang="en-US" sz="975" i="1">
                <a:solidFill>
                  <a:srgbClr val="64748B"/>
                </a:solidFill>
                <a:latin typeface="Microsoft YaHei"/>
                <a:ea typeface="Microsoft YaHei"/>
              </a:rPr>
              <a:t xml:space="preserve"> 80 </a:t>
            </a:r>
            <a:r>
              <a:rPr lang="zh-CN" sz="975" i="1">
                <a:solidFill>
                  <a:srgbClr val="64748B"/>
                </a:solidFill>
                <a:latin typeface="Microsoft YaHei"/>
                <a:ea typeface="Microsoft YaHei"/>
              </a:rPr>
              <a:t>个了吗？」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85800" y="3752850"/>
            <a:ext cx="5314950" cy="2362200"/>
          </a:xfrm>
          <a:prstGeom prst="roundRect">
            <a:avLst>
              <a:gd name="adj" fmla="val 4839"/>
            </a:avLst>
          </a:prstGeom>
          <a:solidFill>
            <a:srgbClr val="F7F4EC">
              <a:alpha val="6000"/>
            </a:srgbClr>
          </a:solidFill>
          <a:ln w="12700">
            <a:solidFill>
              <a:srgbClr val="F7F4EC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95350" y="3962400"/>
            <a:ext cx="3143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6B6D4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323975" y="4010025"/>
            <a:ext cx="800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7F4EC"/>
                </a:solidFill>
                <a:latin typeface="Microsoft YaHei"/>
                <a:ea typeface="Microsoft YaHei"/>
              </a:rPr>
              <a:t>交期误判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95350" y="4381500"/>
            <a:ext cx="48958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谁快到期、谁已经逾期，全凭人脑记；排产靠感觉、催单靠运气。等客户催上门，才知道这单明天就该交。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95350" y="5029200"/>
            <a:ext cx="4895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6B6D4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050">
                <a:solidFill>
                  <a:srgbClr val="06B6D4"/>
                </a:solidFill>
                <a:latin typeface="Microsoft YaHei"/>
                <a:ea typeface="Microsoft YaHei"/>
              </a:rPr>
              <a:t>逾期赔付、信任受损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95350" y="5753100"/>
            <a:ext cx="489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i="1">
                <a:solidFill>
                  <a:srgbClr val="64748B"/>
                </a:solidFill>
                <a:latin typeface="Microsoft YaHei"/>
                <a:ea typeface="Microsoft YaHei"/>
              </a:rPr>
              <a:t>「明天就要，你们怎么还没发？」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6191250" y="3752850"/>
            <a:ext cx="5314950" cy="2362200"/>
          </a:xfrm>
          <a:prstGeom prst="roundRect">
            <a:avLst>
              <a:gd name="adj" fmla="val 4839"/>
            </a:avLst>
          </a:prstGeom>
          <a:solidFill>
            <a:srgbClr val="F7F4EC">
              <a:alpha val="6000"/>
            </a:srgbClr>
          </a:solidFill>
          <a:ln w="12700">
            <a:solidFill>
              <a:srgbClr val="F7F4EC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400800" y="3962400"/>
            <a:ext cx="3143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6B6D4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829425" y="4010025"/>
            <a:ext cx="6000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7F4EC"/>
                </a:solidFill>
                <a:latin typeface="Microsoft YaHei"/>
                <a:ea typeface="Microsoft YaHei"/>
              </a:rPr>
              <a:t>查不到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400800" y="4381500"/>
            <a:ext cx="48958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老板问「李姐那批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DZ47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到哪了」，要翻半天聊天记录才能拼出个大概，还不敢保证准；决策只能靠猜。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400800" y="5029200"/>
            <a:ext cx="4895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6B6D4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1050">
                <a:solidFill>
                  <a:srgbClr val="06B6D4"/>
                </a:solidFill>
                <a:latin typeface="Microsoft YaHei"/>
                <a:ea typeface="Microsoft YaHei"/>
              </a:rPr>
              <a:t>回复慢、决策靠猜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400800" y="5753100"/>
            <a:ext cx="489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i="1">
                <a:solidFill>
                  <a:srgbClr val="64748B"/>
                </a:solidFill>
                <a:latin typeface="Microsoft YaHei"/>
                <a:ea typeface="Microsoft YaHei"/>
              </a:rPr>
              <a:t>「那批货到底走到哪一步了？」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85800" y="622935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瓯单通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企业智能体赛道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队伍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XO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1049000" y="62293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02 / 10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60" name="" descr="&lt;Slide style={{ width: 1280, height: 720, background: '#0F172A', padding: '40px 72px', flexDirection: 'column' }}&gt;&#10;  &lt;Box style={{ height: 84, flexDirection: 'column', justifyContent: 'center' }}&gt;&#10;    &lt;Text style={{ fontSize: 34, fontWeight: 'bold', color: '#F7F4EC' }}&gt;谁在用：靠微信接单的中小制造企业&lt;/Text&gt;&#10;    &lt;Text style={{ fontSize: 16, color: '#94A3B8', marginTop: 6 }}&gt;机械配件、电气、鞋服、泵阀、汽摩配 —— 温州本地典型行业；没有 ERP，或 ERP 里没有「沟通」这一环&lt;/Text&gt;&#10;  &lt;/Box&gt;&#10;  &lt;Box style={{ flex: 1, flexDirection: 'row', gap: 20, justifyContent: 'center' }}&gt;&#10;    &lt;Box style={{ width: 366, height: 466, background: 'rgba(247,244,236,0.06)', border: '1px solid rgba(247,244,236,0.14)', borderRadius: 12, padding: 24, flexDirection: 'column', gap: 9 }}&gt;&#10;      &lt;Text style={{ fontSize: 32, fontWeight: 'bold', color: '#06B6D4', fontFamily: 'Consolas' }}&gt;01&lt;/Text&gt;&#10;      &lt;Text style={{ fontSize: 23, fontWeight: 'bold', color: '#F7F4EC' }}&gt;业务员&lt;/Text&gt;&#10;      &lt;Text style={{ fontSize: 14, color: '#94A3B8', lineHeight: 1.65 }}&gt;手上几十个微信客户群，接单、报价、催货全靠聊天记录；没有系统可查，只能靠记性，忙起来就漏。&lt;/Text&gt;&#10;      &lt;Box style={{ height: 1, background: 'rgba(247,244,236,0.12)', marginTop: 2 }} /&gt;&#10;      &lt;Text style={{ fontSize: 13, fontWeight: 'bold', color: '#06B6D4' }}&gt;典型场景&lt;/Text&gt;&#10;      &lt;Text style={{ fontSize: 13, color: '#CBD5E1', lineHeight: 1.85 }}&gt;· 群里接单、改数量、改交期&lt;br /&gt;· 被追问「这单什么时候到」&lt;br /&gt;· 说「再排一批」要追加&lt;br /&gt;· 一天几十条，记不住谁改过&lt;/Text&gt;&#10;      &lt;Text style={{ fontSize: 13, color: '#06B6D4', marginTop: 2 }}&gt;瓯单通 → 一句话自动落成台账一笔&lt;/Text&gt;&#10;      &lt;Text style={{ fontSize: 12, color: '#64748B', marginTop: 'auto', fontStyle: 'italic' }}&gt;最怕：消息被刷走，漏掉一笔&lt;/Text&gt;&#10;    &lt;/Box&gt;&#10;    &lt;Box style={{ width: 366, height: 466, background: 'rgba(247,244,236,0.06)', border: '1px solid rgba(247,244,236,0.14)', borderRadius: 12, padding: 24, flexDirection: 'column', gap: 9 }}&gt;&#10;      &lt;Text style={{ fontSize: 32, fontWeight: 'bold', color: '#06B6D4', fontFamily: 'Consolas' }}&gt;02&lt;/Text&gt;&#10;      &lt;Text style={{ fontSize: 23, fontWeight: 'bold', color: '#F7F4EC' }}&gt;跟单员&lt;/Text&gt;&#10;      &lt;Text style={{ fontSize: 14, color: '#94A3B8', lineHeight: 1.65 }}&gt;把订单落到排产和交付，盯进度、对账；最怕业务、生产、客户三边口径不一致，返工扯皮。&lt;/Text&gt;&#10;      &lt;Box style={{ height: 1, background: 'rgba(247,244,236,0.12)', marginTop: 2 }} /&gt;&#10;      &lt;Text style={{ fontSize: 13, fontWeight: 'bold', color: '#06B6D4' }}&gt;典型场景&lt;/Text&gt;&#10;      &lt;Text style={{ fontSize: 13, color: '#CBD5E1', lineHeight: 1.85 }}&gt;· 核对数量 / 单价 / 交期&lt;br /&gt;· 跟踪分批交付与尾数&lt;br /&gt;· 对账发现某笔没登记&lt;br /&gt;· 客户改单后旧台账没更新&lt;/Text&gt;&#10;      &lt;Text style={{ fontSize: 13, color: '#06B6D4', marginTop: 2 }}&gt;瓯单通 → 变更自动校验留痕，口径唯一&lt;/Text&gt;&#10;      &lt;Text style={{ fontSize: 12, color: '#64748B', marginTop: 'auto', fontStyle: 'italic' }}&gt;最怕：台账和实际对不上&lt;/Text&gt;&#10;    &lt;/Box&gt;&#10;    &lt;Box style={{ width: 366, height: 466, background: 'rgba(247,244,236,0.06)', border: '1px solid rgba(247,244,236,0.14)', borderRadius: 12, padding: 24, flexDirection: 'column', gap: 9 }}&gt;&#10;      &lt;Text style={{ fontSize: 32, fontWeight: 'bold', color: '#06B6D4', fontFamily: 'Consolas' }}&gt;03&lt;/Text&gt;&#10;      &lt;Text style={{ fontSize: 23, fontWeight: 'bold', color: '#F7F4EC' }}&gt;老板娘 / 老板&lt;/Text&gt;&#10;      &lt;Text style={{ fontSize: 14, color: '#94A3B8', lineHeight: 1.65 }}&gt;不在一线，但每天都要问：哪单快到期、哪笔还没回款、这周要交多少，问一句往往要等半天。&lt;/Text&gt;&#10;      &lt;Box style={{ height: 1, background: 'rgba(247,244,236,0.12)', marginTop: 2 }} /&gt;&#10;      &lt;Text style={{ fontSize: 13, fontWeight: 'bold', color: '#06B6D4' }}&gt;典型场景&lt;/Text&gt;&#10;      &lt;Text style={{ fontSize: 13, color: '#CBD5E1', lineHeight: 1.85 }}&gt;· 早上先问「今天有哪些要交」&lt;br /&gt;· 盯临期与逾期，别等客户催&lt;br /&gt;· 一句话要一份「今日简报」&lt;br /&gt;· 想看某单的来龙去脉&lt;/Text&gt;&#10;      &lt;Text style={{ fontSize: 13, color: '#06B6D4', marginTop: 2 }}&gt;瓯单通 → 一句话查单、一句话出简报&lt;/Text&gt;&#10;      &lt;Text style={{ fontSize: 12, color: '#64748B', marginTop: 'auto', fontStyle: 'italic' }}&gt;最怕：问一句要等半天答复&lt;/Text&gt;&#10;    &lt;/Box&gt;&#10;  &lt;/Box&gt;&#10;  &lt;Box style={{ height: 36, flexDirection: 'row', justifyContent: 'space-between', alignItems: 'center' }}&gt;&#10;    &lt;Text style={{ fontSize: 14, color: '#64748B' }}&gt;瓯单通 · 企业智能体赛道 · 队伍 XO&lt;/Text&gt;&#10;    &lt;Text style={{ fontSize: 14, color: '#64748B' }}&gt;03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85800" y="46672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谁在用：靠微信接单的中小制造企业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85800" y="914400"/>
            <a:ext cx="1082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机械配件、电气、鞋服、泵阀、汽摩配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温州本地典型行业；没有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ERP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，或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ERP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里没有「沟通」这一环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85800" y="1181100"/>
            <a:ext cx="3486150" cy="4438650"/>
          </a:xfrm>
          <a:prstGeom prst="roundRect">
            <a:avLst>
              <a:gd name="adj" fmla="val 3279"/>
            </a:avLst>
          </a:prstGeom>
          <a:solidFill>
            <a:srgbClr val="F7F4EC">
              <a:alpha val="6000"/>
            </a:srgbClr>
          </a:solidFill>
          <a:ln w="12700">
            <a:solidFill>
              <a:srgbClr val="F7F4EC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914400" y="1409700"/>
            <a:ext cx="30289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6B6D4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914400" y="1866900"/>
            <a:ext cx="30289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F7F4EC"/>
                </a:solidFill>
                <a:latin typeface="Microsoft YaHei"/>
                <a:ea typeface="Microsoft YaHei"/>
              </a:rPr>
              <a:t>业务员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914400" y="2219325"/>
            <a:ext cx="302895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手上几十个微信客户群，接单、报价、催货全靠聊天记录；没有系统可查，只能靠记性，忙起来就漏。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914400" y="3124200"/>
            <a:ext cx="3028950" cy="9525"/>
          </a:xfrm>
          <a:prstGeom prst="rect">
            <a:avLst/>
          </a:prstGeom>
          <a:solidFill>
            <a:srgbClr val="F7F4EC">
              <a:alpha val="12000"/>
            </a:srgbClr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914400" y="3219450"/>
            <a:ext cx="3028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6B6D4"/>
                </a:solidFill>
                <a:latin typeface="Microsoft YaHei"/>
                <a:ea typeface="Microsoft YaHei"/>
              </a:rPr>
              <a:t>典型场景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914400" y="3457575"/>
            <a:ext cx="3028950" cy="110490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群里接单、改数量、改交期</a:t>
            </a:r>
            <a:endParaRPr/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被追问「这单什么时候到」</a:t>
            </a:r>
            <a:endParaRPr/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说「再排一批」要追加</a:t>
            </a:r>
            <a:endParaRPr/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一天几十条，记不住谁改过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914400" y="4667250"/>
            <a:ext cx="3028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6B6D4"/>
                </a:solidFill>
                <a:latin typeface="Microsoft YaHei"/>
                <a:ea typeface="Microsoft YaHei"/>
              </a:rPr>
              <a:t>瓯单通</a:t>
            </a:r>
            <a:r>
              <a:rPr lang="en-US" sz="975">
                <a:solidFill>
                  <a:srgbClr val="06B6D4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06B6D4"/>
                </a:solidFill>
                <a:latin typeface="Microsoft YaHei"/>
                <a:ea typeface="Microsoft YaHei"/>
              </a:rPr>
              <a:t>一句话自动落成台账一笔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914400" y="5248275"/>
            <a:ext cx="3028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i="1">
                <a:solidFill>
                  <a:srgbClr val="64748B"/>
                </a:solidFill>
                <a:latin typeface="Microsoft YaHei"/>
                <a:ea typeface="Microsoft YaHei"/>
              </a:rPr>
              <a:t>最怕：消息被刷走，漏掉一笔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4352925" y="1181100"/>
            <a:ext cx="3486150" cy="4438650"/>
          </a:xfrm>
          <a:prstGeom prst="roundRect">
            <a:avLst>
              <a:gd name="adj" fmla="val 3279"/>
            </a:avLst>
          </a:prstGeom>
          <a:solidFill>
            <a:srgbClr val="F7F4EC">
              <a:alpha val="6000"/>
            </a:srgbClr>
          </a:solidFill>
          <a:ln w="12700">
            <a:solidFill>
              <a:srgbClr val="F7F4EC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4581525" y="1409700"/>
            <a:ext cx="30289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6B6D4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581525" y="1866900"/>
            <a:ext cx="30289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F7F4EC"/>
                </a:solidFill>
                <a:latin typeface="Microsoft YaHei"/>
                <a:ea typeface="Microsoft YaHei"/>
              </a:rPr>
              <a:t>跟单员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581525" y="2219325"/>
            <a:ext cx="30289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把订单落到排产和交付，盯进度、对账；最怕业务、生产、客户三边口径不一致，返工扯皮。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4581525" y="2857500"/>
            <a:ext cx="3028950" cy="9525"/>
          </a:xfrm>
          <a:prstGeom prst="rect">
            <a:avLst/>
          </a:prstGeom>
          <a:solidFill>
            <a:srgbClr val="F7F4EC">
              <a:alpha val="12000"/>
            </a:srgbClr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4581525" y="2952750"/>
            <a:ext cx="3028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6B6D4"/>
                </a:solidFill>
                <a:latin typeface="Microsoft YaHei"/>
                <a:ea typeface="Microsoft YaHei"/>
              </a:rPr>
              <a:t>典型场景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4581525" y="3190875"/>
            <a:ext cx="3028950" cy="110490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核对数量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单价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交期</a:t>
            </a:r>
            <a:endParaRPr/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跟踪分批交付与尾数</a:t>
            </a:r>
            <a:endParaRPr/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对账发现某笔没登记</a:t>
            </a:r>
            <a:endParaRPr/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客户改单后旧台账没更新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4581525" y="4400550"/>
            <a:ext cx="3028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6B6D4"/>
                </a:solidFill>
                <a:latin typeface="Microsoft YaHei"/>
                <a:ea typeface="Microsoft YaHei"/>
              </a:rPr>
              <a:t>瓯单通</a:t>
            </a:r>
            <a:r>
              <a:rPr lang="en-US" sz="975">
                <a:solidFill>
                  <a:srgbClr val="06B6D4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06B6D4"/>
                </a:solidFill>
                <a:latin typeface="Microsoft YaHei"/>
                <a:ea typeface="Microsoft YaHei"/>
              </a:rPr>
              <a:t>变更自动校验留痕，口径唯一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581525" y="5248275"/>
            <a:ext cx="3028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i="1">
                <a:solidFill>
                  <a:srgbClr val="64748B"/>
                </a:solidFill>
                <a:latin typeface="Microsoft YaHei"/>
                <a:ea typeface="Microsoft YaHei"/>
              </a:rPr>
              <a:t>最怕：台账和实际对不上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8029575" y="1181100"/>
            <a:ext cx="3486150" cy="4438650"/>
          </a:xfrm>
          <a:prstGeom prst="roundRect">
            <a:avLst>
              <a:gd name="adj" fmla="val 3279"/>
            </a:avLst>
          </a:prstGeom>
          <a:solidFill>
            <a:srgbClr val="F7F4EC">
              <a:alpha val="6000"/>
            </a:srgbClr>
          </a:solidFill>
          <a:ln w="12700">
            <a:solidFill>
              <a:srgbClr val="F7F4EC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258175" y="1409700"/>
            <a:ext cx="30289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6B6D4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258175" y="1866900"/>
            <a:ext cx="30289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F7F4EC"/>
                </a:solidFill>
                <a:latin typeface="Microsoft YaHei"/>
                <a:ea typeface="Microsoft YaHei"/>
              </a:rPr>
              <a:t>老板娘</a:t>
            </a:r>
            <a:r>
              <a:rPr lang="en-US" sz="1725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725" b="1">
                <a:solidFill>
                  <a:srgbClr val="F7F4EC"/>
                </a:solidFill>
                <a:latin typeface="Microsoft YaHei"/>
                <a:ea typeface="Microsoft YaHei"/>
              </a:rPr>
              <a:t>老板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258175" y="2219325"/>
            <a:ext cx="30289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不在一线，但每天都要问：哪单快到期、哪笔还没回款、这周要交多少，问一句往往要等半天。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8258175" y="2857500"/>
            <a:ext cx="3028950" cy="9525"/>
          </a:xfrm>
          <a:prstGeom prst="rect">
            <a:avLst/>
          </a:prstGeom>
          <a:solidFill>
            <a:srgbClr val="F7F4EC">
              <a:alpha val="12000"/>
            </a:srgbClr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258175" y="2952750"/>
            <a:ext cx="3028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6B6D4"/>
                </a:solidFill>
                <a:latin typeface="Microsoft YaHei"/>
                <a:ea typeface="Microsoft YaHei"/>
              </a:rPr>
              <a:t>典型场景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258175" y="3190875"/>
            <a:ext cx="3028950" cy="110490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早上先问「今天有哪些要交」</a:t>
            </a:r>
            <a:endParaRPr/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盯临期与逾期，别等客户催</a:t>
            </a:r>
            <a:endParaRPr/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一句话要一份「今日简报」</a:t>
            </a:r>
            <a:endParaRPr/>
          </a:p>
          <a:p>
            <a:pPr>
              <a:lnSpc>
                <a:spcPct val="185000"/>
              </a:lnSpc>
            </a:pP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想看某单的来龙去脉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258175" y="4400550"/>
            <a:ext cx="3028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6B6D4"/>
                </a:solidFill>
                <a:latin typeface="Microsoft YaHei"/>
                <a:ea typeface="Microsoft YaHei"/>
              </a:rPr>
              <a:t>瓯单通</a:t>
            </a:r>
            <a:r>
              <a:rPr lang="en-US" sz="975">
                <a:solidFill>
                  <a:srgbClr val="06B6D4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06B6D4"/>
                </a:solidFill>
                <a:latin typeface="Microsoft YaHei"/>
                <a:ea typeface="Microsoft YaHei"/>
              </a:rPr>
              <a:t>一句话查单、一句话出简报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258175" y="5248275"/>
            <a:ext cx="3028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i="1">
                <a:solidFill>
                  <a:srgbClr val="64748B"/>
                </a:solidFill>
                <a:latin typeface="Microsoft YaHei"/>
                <a:ea typeface="Microsoft YaHei"/>
              </a:rPr>
              <a:t>最怕：问一句要等半天答复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85800" y="622935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瓯单通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企业智能体赛道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队伍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XO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1049000" y="62293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03 / 10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93" name="" descr="&lt;Slide style={{ width: 1280, height: 720, background: '#0F172A', padding: '40px 72px', flexDirection: 'column' }}&gt;&#10;  &lt;Box style={{ height: 84, flexDirection: 'column', justifyContent: 'center' }}&gt;&#10;    &lt;Text style={{ fontSize: 34, fontWeight: 'bold', color: '#F7F4EC' }}&gt;核心功能：从一句群聊，到一张可查的台账&lt;/Text&gt;&#10;    &lt;Text style={{ fontSize: 16, color: '#94A3B8', marginTop: 6 }}&gt;四步闭环，每一步都可现场验证；判定全部走本地规则，结果可解释&lt;/Text&gt;&#10;  &lt;/Box&gt;&#10;  &lt;Box style={{ flexDirection: 'row', gap: 16, justifyContent: 'center', marginTop: 6 }}&gt;&#10;    &lt;Box style={{ width: 272, height: 396, background: 'rgba(247,244,236,0.06)', border: '1px solid rgba(247,244,236,0.14)', borderRadius: 12, padding: 22, flexDirection: 'column', gap: 10 }}&gt;&#10;      &lt;Text style={{ fontSize: 60, fontWeight: 'bold', color: '#06B6D4', fontFamily: 'Consolas', lineHeight: 1 }}&gt;01&lt;/Text&gt;&#10;      &lt;Text style={{ fontSize: 21, fontWeight: 'bold', color: '#F7F4EC' }}&gt;群聊抽取&lt;/Text&gt;&#10;      &lt;Text style={{ fontSize: 13, color: '#94A3B8', lineHeight: 1.7 }}&gt;把「DZ47 加到 80 个」「下周三交」这类碎片消息，抽成结构化字段：客户、产品、数量、单价、交期、状态。模糊量词「一批」不猜数，如实标缺失。&lt;/Text&gt;&#10;      &lt;Text style={{ fontSize: 12, color: '#06B6D4', marginTop: 'auto' }}&gt;群聊原文 → 结构化订单&lt;/Text&gt;&#10;      &lt;Text style={{ fontSize: 12, color: '#64748B' }}&gt;解决：漏单、靠人脑记&lt;/Text&gt;&#10;    &lt;/Box&gt;&#10;    &lt;Box style={{ width: 272, height: 396, background: 'rgba(247,244,236,0.06)', border: '1px solid rgba(247,244,236,0.14)', borderRadius: 12, padding: 22, flexDirection: 'column', gap: 10 }}&gt;&#10;      &lt;Text style={{ fontSize: 60, fontWeight: 'bold', color: '#06B6D4', fontFamily: 'Consolas', lineHeight: 1 }}&gt;02&lt;/Text&gt;&#10;      &lt;Text style={{ fontSize: 21, fontWeight: 'bold', color: '#F7F4EC' }}&gt;冲突校验&lt;/Text&gt;&#10;      &lt;Text style={{ fontSize: 13, color: '#94A3B8', lineHeight: 1.7 }}&gt;改数量、改交期自动与台账比对；数值悬殊、日期倒挂当场拦下并提示，避免几个人各说各话、口径打架。&lt;/Text&gt;&#10;      &lt;Text style={{ fontSize: 12, color: '#06B6D4', marginTop: 'auto' }}&gt;变更消息 → 通过 / 冲突提示&lt;/Text&gt;&#10;      &lt;Text style={{ fontSize: 12, color: '#64748B' }}&gt;解决：错单、口径不一致&lt;/Text&gt;&#10;    &lt;/Box&gt;&#10;    &lt;Box style={{ width: 272, height: 396, background: 'rgba(247,244,236,0.06)', border: '1px solid rgba(247,244,236,0.14)', borderRadius: 12, padding: 22, flexDirection: 'column', gap: 10 }}&gt;&#10;      &lt;Text style={{ fontSize: 60, fontWeight: 'bold', color: '#06B6D4', fontFamily: 'Consolas', lineHeight: 1 }}&gt;03&lt;/Text&gt;&#10;      &lt;Text style={{ fontSize: 21, fontWeight: 'bold', color: '#F7F4EC' }}&gt;协同台账&lt;/Text&gt;&#10;      &lt;Text style={{ fontSize: 13, color: '#94A3B8', lineHeight: 1.7 }}&gt;在途单一处维护，支持分批交期、未交付量、6 态流转；每次改动静默留履历，谁在什么时候改了什么一清二楚。&lt;/Text&gt;&#10;      &lt;Text style={{ fontSize: 12, color: '#06B6D4', marginTop: 'auto' }}&gt;确认订单 → 台账 + 变更履历&lt;/Text&gt;&#10;      &lt;Text style={{ fontSize: 12, color: '#64748B' }}&gt;解决：查不到、对不上&lt;/Text&gt;&#10;    &lt;/Box&gt;&#10;    &lt;Box style={{ width: 272, height: 396, background: 'rgba(247,244,236,0.06)', border: '1px solid rgba(247,244,236,0.14)', borderRadius: 12, padding: 22, flexDirection: 'column', gap: 10 }}&gt;&#10;      &lt;Text style={{ fontSize: 60, fontWeight: 'bold', color: '#06B6D4', fontFamily: 'Consolas', lineHeight: 1 }}&gt;04&lt;/Text&gt;&#10;      &lt;Text style={{ fontSize: 21, fontWeight: 'bold', color: '#F7F4EC' }}&gt;查单 &amp; 简报&lt;/Text&gt;&#10;      &lt;Text style={{ fontSize: 13, color: '#94A3B8', lineHeight: 1.7 }}&gt;一句话查「李姐那批 DZ47 到哪了」；一句话出「今日简报」（在途 / 临期 / 逾期 / 待跟进）。查询与简报走规则，不依赖大模型。&lt;/Text&gt;&#10;      &lt;Text style={{ fontSize: 12, color: '#06B6D4', marginTop: 'auto' }}&gt;口语提问 → 答案 / 简报&lt;/Text&gt;&#10;      &lt;Text style={{ fontSize: 12, color: '#64748B' }}&gt;解决：回复慢、决策靠猜&lt;/Text&gt;&#10;    &lt;/Box&gt;&#10;  &lt;/Box&gt;&#10;  &lt;Box style={{ height: 92, marginTop: 16, background: 'rgba(6,182,212,0.08)', border: '1px solid rgba(6,182,212,0.28)', borderRadius: 10, flexDirection: 'row', alignItems: 'center', justifyContent: 'space-around', padding: '0 20px' }}&gt;&#10;    &lt;Box style={{ flexDirection: 'column', alignItems: 'center', gap: 4 }}&gt;&#10;      &lt;Text style={{ fontSize: 15, fontWeight: 'bold', color: '#F7F4EC' }}&gt;LLM 只负责抽取&lt;/Text&gt;&#10;      &lt;Text style={{ fontSize: 12, color: '#94A3B8' }}&gt;结构化字段，不做判断&lt;/Text&gt;&#10;    &lt;/Box&gt;&#10;    &lt;Box style={{ flexDirection: 'column', alignItems: 'center', gap: 4 }}&gt;&#10;      &lt;Text style={{ fontSize: 15, fontWeight: 'bold', color: '#F7F4EC' }}&gt;判定与话术走规则&lt;/Text&gt;&#10;      &lt;Text style={{ fontSize: 12, color: '#94A3B8' }}&gt;可解释、可测试、不漂移&lt;/Text&gt;&#10;    &lt;/Box&gt;&#10;    &lt;Box style={{ flexDirection: 'column', alignItems: 'center', gap: 4 }}&gt;&#10;      &lt;Text style={{ fontSize: 15, fontWeight: 'bold', color: '#F7F4EC' }}&gt;零第三方依赖&lt;/Text&gt;&#10;      &lt;Text style={{ fontSize: 12, color: '#94A3B8' }}&gt;Python 标准库即可运行&lt;/Text&gt;&#10;    &lt;/Box&gt;&#10;    &lt;Box style={{ flexDirection: 'column', alignItems: 'center', gap: 4 }}&gt;&#10;      &lt;Text style={{ fontSize: 15, fontWeight: 'bold', color: '#F7F4EC' }}&gt;五套测试把关&lt;/Text&gt;&#10;      &lt;Text style={{ fontSize: 12, color: '#94A3B8' }}&gt;154 / 30 / 14 / 100 / 22&lt;/Text&gt;&#10;    &lt;/Box&gt;&#10;  &lt;/Box&gt;&#10;  &lt;Box style={{ height: 36, flexDirection: 'row', justifyContent: 'space-between', alignItems: 'center' }}&gt;&#10;    &lt;Text style={{ fontSize: 14, color: '#64748B' }}&gt;瓯单通 · 企业智能体赛道 · 队伍 XO&lt;/Text&gt;&#10;    &lt;Text style={{ fontSize: 14, color: '#64748B' }}&gt;04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85800" y="46672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核心功能：从一句群聊，到一张可查的台账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85800" y="914400"/>
            <a:ext cx="1082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四步闭环，每一步都可现场验证；判定全部走本地规则，结果可解释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85800" y="1238250"/>
            <a:ext cx="2590800" cy="3771900"/>
          </a:xfrm>
          <a:prstGeom prst="roundRect">
            <a:avLst>
              <a:gd name="adj" fmla="val 4412"/>
            </a:avLst>
          </a:prstGeom>
          <a:solidFill>
            <a:srgbClr val="F7F4EC">
              <a:alpha val="6000"/>
            </a:srgbClr>
          </a:solidFill>
          <a:ln w="12700">
            <a:solidFill>
              <a:srgbClr val="F7F4EC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95350" y="1447800"/>
            <a:ext cx="21717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06B6D4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95350" y="2228850"/>
            <a:ext cx="2171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7F4EC"/>
                </a:solidFill>
                <a:latin typeface="Microsoft YaHei"/>
                <a:ea typeface="Microsoft YaHei"/>
              </a:rPr>
              <a:t>群聊抽取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95350" y="2571750"/>
            <a:ext cx="2171700" cy="1266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把「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DZ47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加到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80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个」「下周三交」这类碎片消息，抽成结构化字段：客户、产品、数量、单价、交期、状态。模糊量词「一批」不猜数，如实标缺失。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95350" y="4419600"/>
            <a:ext cx="2171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6B6D4"/>
                </a:solidFill>
                <a:latin typeface="Microsoft YaHei"/>
                <a:ea typeface="Microsoft YaHei"/>
              </a:rPr>
              <a:t>群聊原文</a:t>
            </a:r>
            <a:r>
              <a:rPr lang="en-US" sz="900">
                <a:solidFill>
                  <a:srgbClr val="06B6D4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06B6D4"/>
                </a:solidFill>
                <a:latin typeface="Microsoft YaHei"/>
                <a:ea typeface="Microsoft YaHei"/>
              </a:rPr>
              <a:t>结构化订单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95350" y="4657725"/>
            <a:ext cx="2171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解决：漏单、靠人脑记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3429000" y="1238250"/>
            <a:ext cx="2590800" cy="3771900"/>
          </a:xfrm>
          <a:prstGeom prst="roundRect">
            <a:avLst>
              <a:gd name="adj" fmla="val 4412"/>
            </a:avLst>
          </a:prstGeom>
          <a:solidFill>
            <a:srgbClr val="F7F4EC">
              <a:alpha val="6000"/>
            </a:srgbClr>
          </a:solidFill>
          <a:ln w="12700">
            <a:solidFill>
              <a:srgbClr val="F7F4EC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3638550" y="1447800"/>
            <a:ext cx="21717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06B6D4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3638550" y="2228850"/>
            <a:ext cx="2171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7F4EC"/>
                </a:solidFill>
                <a:latin typeface="Microsoft YaHei"/>
                <a:ea typeface="Microsoft YaHei"/>
              </a:rPr>
              <a:t>冲突校验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3638550" y="2571750"/>
            <a:ext cx="21717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改数量、改交期自动与台账比对；数值悬殊、日期倒挂当场拦下并提示，避免几个人各说各话、口径打架。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3638550" y="4419600"/>
            <a:ext cx="2171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6B6D4"/>
                </a:solidFill>
                <a:latin typeface="Microsoft YaHei"/>
                <a:ea typeface="Microsoft YaHei"/>
              </a:rPr>
              <a:t>变更消息</a:t>
            </a:r>
            <a:r>
              <a:rPr lang="en-US" sz="900">
                <a:solidFill>
                  <a:srgbClr val="06B6D4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06B6D4"/>
                </a:solidFill>
                <a:latin typeface="Microsoft YaHei"/>
                <a:ea typeface="Microsoft YaHei"/>
              </a:rPr>
              <a:t>通过</a:t>
            </a:r>
            <a:r>
              <a:rPr lang="en-US" sz="900">
                <a:solidFill>
                  <a:srgbClr val="06B6D4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06B6D4"/>
                </a:solidFill>
                <a:latin typeface="Microsoft YaHei"/>
                <a:ea typeface="Microsoft YaHei"/>
              </a:rPr>
              <a:t>冲突提示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3638550" y="4657725"/>
            <a:ext cx="2171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解决：错单、口径不一致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6172200" y="1238250"/>
            <a:ext cx="2590800" cy="3771900"/>
          </a:xfrm>
          <a:prstGeom prst="roundRect">
            <a:avLst>
              <a:gd name="adj" fmla="val 4412"/>
            </a:avLst>
          </a:prstGeom>
          <a:solidFill>
            <a:srgbClr val="F7F4EC">
              <a:alpha val="6000"/>
            </a:srgbClr>
          </a:solidFill>
          <a:ln w="12700">
            <a:solidFill>
              <a:srgbClr val="F7F4EC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381750" y="1447800"/>
            <a:ext cx="21717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06B6D4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381750" y="2228850"/>
            <a:ext cx="2171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7F4EC"/>
                </a:solidFill>
                <a:latin typeface="Microsoft YaHei"/>
                <a:ea typeface="Microsoft YaHei"/>
              </a:rPr>
              <a:t>协同台账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381750" y="2571750"/>
            <a:ext cx="21717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在途单一处维护，支持分批交期、未交付量、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6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态流转；每次改动静默留履历，谁在什么时候改了什么一清二楚。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381750" y="4419600"/>
            <a:ext cx="2171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6B6D4"/>
                </a:solidFill>
                <a:latin typeface="Microsoft YaHei"/>
                <a:ea typeface="Microsoft YaHei"/>
              </a:rPr>
              <a:t>确认订单</a:t>
            </a:r>
            <a:r>
              <a:rPr lang="en-US" sz="900">
                <a:solidFill>
                  <a:srgbClr val="06B6D4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06B6D4"/>
                </a:solidFill>
                <a:latin typeface="Microsoft YaHei"/>
                <a:ea typeface="Microsoft YaHei"/>
              </a:rPr>
              <a:t>台账</a:t>
            </a:r>
            <a:r>
              <a:rPr lang="en-US" sz="900">
                <a:solidFill>
                  <a:srgbClr val="06B6D4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06B6D4"/>
                </a:solidFill>
                <a:latin typeface="Microsoft YaHei"/>
                <a:ea typeface="Microsoft YaHei"/>
              </a:rPr>
              <a:t>变更履历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381750" y="4657725"/>
            <a:ext cx="2171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解决：查不到、对不上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8915400" y="1238250"/>
            <a:ext cx="2590800" cy="3771900"/>
          </a:xfrm>
          <a:prstGeom prst="roundRect">
            <a:avLst>
              <a:gd name="adj" fmla="val 4412"/>
            </a:avLst>
          </a:prstGeom>
          <a:solidFill>
            <a:srgbClr val="F7F4EC">
              <a:alpha val="6000"/>
            </a:srgbClr>
          </a:solidFill>
          <a:ln w="12700">
            <a:solidFill>
              <a:srgbClr val="F7F4EC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9124950" y="1447800"/>
            <a:ext cx="21717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06B6D4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9124950" y="2228850"/>
            <a:ext cx="2171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7F4EC"/>
                </a:solidFill>
                <a:latin typeface="Microsoft YaHei"/>
                <a:ea typeface="Microsoft YaHei"/>
              </a:rPr>
              <a:t>查单</a:t>
            </a:r>
            <a:r>
              <a:rPr lang="en-US" sz="1575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 &amp; </a:t>
            </a:r>
            <a:r>
              <a:rPr lang="zh-CN" sz="1575" b="1">
                <a:solidFill>
                  <a:srgbClr val="F7F4EC"/>
                </a:solidFill>
                <a:latin typeface="Microsoft YaHei"/>
                <a:ea typeface="Microsoft YaHei"/>
              </a:rPr>
              <a:t>简报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9124950" y="2571750"/>
            <a:ext cx="217170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一句话查「李姐那批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DZ47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到哪了」；一句话出「今日简报」（在途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临期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逾期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待跟进）。查询与简报走规则，不依赖大模型。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9124950" y="4419600"/>
            <a:ext cx="2171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6B6D4"/>
                </a:solidFill>
                <a:latin typeface="Microsoft YaHei"/>
                <a:ea typeface="Microsoft YaHei"/>
              </a:rPr>
              <a:t>口语提问</a:t>
            </a:r>
            <a:r>
              <a:rPr lang="en-US" sz="900">
                <a:solidFill>
                  <a:srgbClr val="06B6D4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06B6D4"/>
                </a:solidFill>
                <a:latin typeface="Microsoft YaHei"/>
                <a:ea typeface="Microsoft YaHei"/>
              </a:rPr>
              <a:t>答案</a:t>
            </a:r>
            <a:r>
              <a:rPr lang="en-US" sz="900">
                <a:solidFill>
                  <a:srgbClr val="06B6D4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06B6D4"/>
                </a:solidFill>
                <a:latin typeface="Microsoft YaHei"/>
                <a:ea typeface="Microsoft YaHei"/>
              </a:rPr>
              <a:t>简报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9124950" y="4657725"/>
            <a:ext cx="2171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解决：回复慢、决策靠猜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85800" y="5162550"/>
            <a:ext cx="10820400" cy="876300"/>
          </a:xfrm>
          <a:prstGeom prst="roundRect">
            <a:avLst>
              <a:gd name="adj" fmla="val 10870"/>
            </a:avLst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609725" y="5429250"/>
            <a:ext cx="106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LLM </a:t>
            </a: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只负责抽取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571625" y="5638800"/>
            <a:ext cx="1143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结构化字段，不做判断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152900" y="542925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判定与话术走规则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4095750" y="5638800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可解释、可测试、不漂移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924675" y="54292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零第三方依赖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734175" y="5638800"/>
            <a:ext cx="1228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标准库即可运行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9553575" y="54292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五套测试把关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9344025" y="5638800"/>
            <a:ext cx="1276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154 / 30 / 14 / 100 / 22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85800" y="613410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瓯单通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企业智能体赛道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队伍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XO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1049000" y="61341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04 / 10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32" name="" descr="&lt;Slide style={{ width: 1280, height: 720, background: '#0F172A', padding: '40px 72px', flexDirection: 'column' }}&gt;&#10;  &lt;Box style={{ height: 84, flexDirection: 'column', justifyContent: 'center' }}&gt;&#10;    &lt;Text style={{ fontSize: 34, fontWeight: 'bold', color: '#F7F4EC' }}&gt;技术实现：五层架构，判定全部可解释&lt;/Text&gt;&#10;    &lt;Text style={{ fontSize: 16, color: '#94A3B8', marginTop: 6 }}&gt;LLM 只做「把话抽成字段」，剩下的校验、状态、话术全部走本地规则&lt;/Text&gt;&#10;  &lt;/Box&gt;&#10;  &lt;Box style={{ flex: 1, flexDirection: 'row', gap: 36 }}&gt;&#10;    &lt;Box style={{ width: 452, flexDirection: 'column', gap: 8, justifyContent: 'center' }}&gt;&#10;      &lt;Box style={{ height: 84, background: 'rgba(59,130,246,0.14)', border: '1px solid rgba(59,130,246,0.45)', borderRadius: 8, padding: '0 18px', flexDirection: 'column', justifyContent: 'center', gap: 3 }}&gt;&#10;        &lt;Text style={{ fontSize: 17, fontWeight: 'bold', color: '#F7F4EC' }}&gt;① 接入层&lt;/Text&gt;&#10;        &lt;Text style={{ fontSize: 12, color: '#94A3B8' }}&gt;web_app.py · static/index.html — HTTP 服务 + 单页网页&lt;/Text&gt;&#10;      &lt;/Box&gt;&#10;      &lt;Box style={{ height: 84, background: 'rgba(59,130,246,0.12)', border: '1px solid rgba(59,130,246,0.38)', borderRadius: 8, padding: '0 18px', flexDirection: 'column', justifyContent: 'center', gap: 3 }}&gt;&#10;        &lt;Text style={{ fontSize: 17, fontWeight: 'bold', color: '#F7F4EC' }}&gt;② 编排层&lt;/Text&gt;&#10;        &lt;Text style={{ fontSize: 12, color: '#94A3B8' }}&gt;agent.py — 解析入库 / 查询 / 简报，串起抽取与判定&lt;/Text&gt;&#10;      &lt;/Box&gt;&#10;      &lt;Box style={{ height: 84, background: 'rgba(6,182,212,0.12)', border: '1px solid rgba(6,182,212,0.40)', borderRadius: 8, padding: '0 18px', flexDirection: 'column', justifyContent: 'center', gap: 3 }}&gt;&#10;        &lt;Text style={{ fontSize: 17, fontWeight: 'bold', color: '#F7F4EC' }}&gt;③ 抽取层&lt;/Text&gt;&#10;        &lt;Text style={{ fontSize: 12, color: '#94A3B8' }}&gt;extractor.py · llm.py · prompts.py — LLM 结构化抽取&lt;/Text&gt;&#10;      &lt;/Box&gt;&#10;      &lt;Box style={{ height: 84, background: 'rgba(6,182,212,0.12)', border: '1px solid rgba(6,182,212,0.40)', borderRadius: 8, padding: '0 18px', flexDirection: 'column', justifyContent: 'center', gap: 3 }}&gt;&#10;        &lt;Text style={{ fontSize: 17, fontWeight: 'bold', color: '#F7F4EC' }}&gt;④ 判定层&lt;/Text&gt;&#10;        &lt;Text style={{ fontSize: 12, color: '#94A3B8' }}&gt;validator.py · contracts.py — 缺失 / 冲突 / 异常 分级&lt;/Text&gt;&#10;      &lt;/Box&gt;&#10;      &lt;Box style={{ height: 84, background: 'rgba(59,130,246,0.14)', border: '1px solid rgba(59,130,246,0.45)', borderRadius: 8, padding: '0 18px', flexDirection: 'column', justifyContent: 'center', gap: 3 }}&gt;&#10;        &lt;Text style={{ fontSize: 17, fontWeight: 'bold', color: '#F7F4EC' }}&gt;⑤ 存储层&lt;/Text&gt;&#10;        &lt;Text style={{ fontSize: 12, color: '#94A3B8' }}&gt;store.py — orders.json · 状态机 · 分批交期 · 履历&lt;/Text&gt;&#10;      &lt;/Box&gt;&#10;    &lt;/Box&gt;&#10;    &lt;Box style={{ flex: 1, flexDirection: 'column', gap: 14, justifyContent: 'center' }}&gt;&#10;      &lt;Text style={{ fontSize: 18, fontWeight: 'bold', color: '#06B6D4' }}&gt;三个关键设计&lt;/Text&gt;&#10;      &lt;Box style={{ background: 'rgba(247,244,236,0.05)', borderRadius: 8, padding: 16, flexDirection: 'column', gap: 4 }}&gt;&#10;        &lt;Text style={{ fontSize: 16, fontWeight: 'bold', color: '#F7F4EC' }}&gt;LLM 只负责抽取&lt;/Text&gt;&#10;        &lt;Text style={{ fontSize: 13, color: '#94A3B8', lineHeight: 1.6 }}&gt;模型只输出结构化字段；是否缺失、是否冲突、状态怎么变，全由本地规则判定，结果可解释、可回归。&lt;/Text&gt;&#10;      &lt;/Box&gt;&#10;      &lt;Box style={{ background: 'rgba(247,244,236,0.05)', borderRadius: 8, padding: 16, flexDirection: 'column', gap: 4 }}&gt;&#10;        &lt;Text style={{ fontSize: 16, fontWeight: 'bold', color: '#F7F4EC' }}&gt;契约统一口径&lt;/Text&gt;&#10;        &lt;Text style={{ fontSize: 13, color: '#94A3B8', lineHeight: 1.6 }}&gt;有效交期、6 态状态机、追加单 vs 改单，统一由 contracts.py 定义，避免各处各算一套。&lt;/Text&gt;&#10;      &lt;/Box&gt;&#10;      &lt;Box style={{ background: 'rgba(247,244,236,0.05)', borderRadius: 8, padding: 16, flexDirection: 'column', gap: 4 }}&gt;&#10;        &lt;Text style={{ fontSize: 16, fontWeight: 'bold', color: '#F7F4EC' }}&gt;可插拔 · 零依赖&lt;/Text&gt;&#10;        &lt;Text style={{ fontSize: 13, color: '#94A3B8', lineHeight: 1.6 }}&gt;仅用 Python 标准库即可运行；LLM 可接任意 OpenAI 兼容端点，无 Key 时自动降级为模拟模式。&lt;/Text&gt;&#10;      &lt;/Box&gt;&#10;      &lt;Text style={{ fontSize: 12, color: '#64748B', marginTop: 4 }}&gt;Python 3.10+ ｜ 标准库 ｜ DeepSeek-V4.1-Flash（硅基流动）&lt;/Text&gt;&#10;    &lt;/Box&gt;&#10;  &lt;/Box&gt;&#10;  &lt;Box style={{ height: 36, flexDirection: 'row', justifyContent: 'space-between', alignItems: 'center' }}&gt;&#10;    &lt;Text style={{ fontSize: 14, color: '#64748B' }}&gt;瓯单通 · 企业智能体赛道 · 队伍 XO&lt;/Text&gt;&#10;    &lt;Text style={{ fontSize: 14, color: '#64748B' }}&gt;05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85800" y="46672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技术实现：五层架构，判定全部可解释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85800" y="914400"/>
            <a:ext cx="1082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LLM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只做「把话抽成字段」，剩下的校验、状态、话术全部走本地规则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685800" y="1504950"/>
            <a:ext cx="4305300" cy="800100"/>
          </a:xfrm>
          <a:prstGeom prst="roundRect">
            <a:avLst>
              <a:gd name="adj" fmla="val 9524"/>
            </a:avLst>
          </a:prstGeom>
          <a:solidFill>
            <a:srgbClr val="3B82F6">
              <a:alpha val="14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57250" y="1724025"/>
            <a:ext cx="3962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275" b="1">
                <a:solidFill>
                  <a:srgbClr val="F7F4EC"/>
                </a:solidFill>
                <a:latin typeface="Microsoft YaHei"/>
                <a:ea typeface="Microsoft YaHei"/>
              </a:rPr>
              <a:t>接入层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57250" y="1952625"/>
            <a:ext cx="3962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web_app.py · static/index.html — HTTP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服务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单页网页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85800" y="2381250"/>
            <a:ext cx="4305300" cy="800100"/>
          </a:xfrm>
          <a:prstGeom prst="roundRect">
            <a:avLst>
              <a:gd name="adj" fmla="val 9524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57250" y="2600325"/>
            <a:ext cx="3962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275" b="1">
                <a:solidFill>
                  <a:srgbClr val="F7F4EC"/>
                </a:solidFill>
                <a:latin typeface="Microsoft YaHei"/>
                <a:ea typeface="Microsoft YaHei"/>
              </a:rPr>
              <a:t>编排层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57250" y="2828925"/>
            <a:ext cx="3962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agent.py —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解析入库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查询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简报，串起抽取与判定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685800" y="3257550"/>
            <a:ext cx="4305300" cy="800100"/>
          </a:xfrm>
          <a:prstGeom prst="roundRect">
            <a:avLst>
              <a:gd name="adj" fmla="val 9524"/>
            </a:avLst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857250" y="3476625"/>
            <a:ext cx="3962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275" b="1">
                <a:solidFill>
                  <a:srgbClr val="F7F4EC"/>
                </a:solidFill>
                <a:latin typeface="Microsoft YaHei"/>
                <a:ea typeface="Microsoft YaHei"/>
              </a:rPr>
              <a:t>抽取层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57250" y="3705225"/>
            <a:ext cx="3962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extractor.py · llm.py · prompts.py — LLM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结构化抽取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85800" y="4133850"/>
            <a:ext cx="4305300" cy="800100"/>
          </a:xfrm>
          <a:prstGeom prst="roundRect">
            <a:avLst>
              <a:gd name="adj" fmla="val 9524"/>
            </a:avLst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57250" y="4352925"/>
            <a:ext cx="3962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275" b="1">
                <a:solidFill>
                  <a:srgbClr val="F7F4EC"/>
                </a:solidFill>
                <a:latin typeface="Microsoft YaHei"/>
                <a:ea typeface="Microsoft YaHei"/>
              </a:rPr>
              <a:t>判定层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57250" y="4581525"/>
            <a:ext cx="3962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validator.py · contracts.py —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缺失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冲突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异常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分级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685800" y="5010150"/>
            <a:ext cx="4305300" cy="800100"/>
          </a:xfrm>
          <a:prstGeom prst="roundRect">
            <a:avLst>
              <a:gd name="adj" fmla="val 9524"/>
            </a:avLst>
          </a:prstGeom>
          <a:solidFill>
            <a:srgbClr val="3B82F6">
              <a:alpha val="14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857250" y="5229225"/>
            <a:ext cx="3962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⑤ </a:t>
            </a:r>
            <a:r>
              <a:rPr lang="zh-CN" sz="1275" b="1">
                <a:solidFill>
                  <a:srgbClr val="F7F4EC"/>
                </a:solidFill>
                <a:latin typeface="Microsoft YaHei"/>
                <a:ea typeface="Microsoft YaHei"/>
              </a:rPr>
              <a:t>存储层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57250" y="5457825"/>
            <a:ext cx="3962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store.py — orders.json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状态机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分批交期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履历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5334000" y="2038350"/>
            <a:ext cx="617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6B6D4"/>
                </a:solidFill>
                <a:latin typeface="Microsoft YaHei"/>
                <a:ea typeface="Microsoft YaHei"/>
              </a:rPr>
              <a:t>三个关键设计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5334000" y="2381250"/>
            <a:ext cx="6172200" cy="771525"/>
          </a:xfrm>
          <a:prstGeom prst="roundRect">
            <a:avLst>
              <a:gd name="adj" fmla="val 9877"/>
            </a:avLst>
          </a:prstGeom>
          <a:solidFill>
            <a:srgbClr val="F7F4EC">
              <a:alpha val="5000"/>
            </a:srgbClr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486400" y="2533650"/>
            <a:ext cx="5867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LLM </a:t>
            </a:r>
            <a:r>
              <a:rPr lang="zh-CN" sz="1200" b="1">
                <a:solidFill>
                  <a:srgbClr val="F7F4EC"/>
                </a:solidFill>
                <a:latin typeface="Microsoft YaHei"/>
                <a:ea typeface="Microsoft YaHei"/>
              </a:rPr>
              <a:t>只负责抽取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486400" y="2762250"/>
            <a:ext cx="58674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模型只输出结构化字段；是否缺失、是否冲突、状态怎么变，全由本地规则判定，结果可解释、可回归。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5334000" y="3286125"/>
            <a:ext cx="6172200" cy="771525"/>
          </a:xfrm>
          <a:prstGeom prst="roundRect">
            <a:avLst>
              <a:gd name="adj" fmla="val 9877"/>
            </a:avLst>
          </a:prstGeom>
          <a:solidFill>
            <a:srgbClr val="F7F4EC">
              <a:alpha val="5000"/>
            </a:srgbClr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486400" y="3438525"/>
            <a:ext cx="5867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7F4EC"/>
                </a:solidFill>
                <a:latin typeface="Microsoft YaHei"/>
                <a:ea typeface="Microsoft YaHei"/>
              </a:rPr>
              <a:t>契约统一口径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5486400" y="3667125"/>
            <a:ext cx="58674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有效交期、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6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态状态机、追加单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vs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改单，统一由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contracts.py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定义，避免各处各算一套。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5334000" y="4191000"/>
            <a:ext cx="6172200" cy="771525"/>
          </a:xfrm>
          <a:prstGeom prst="roundRect">
            <a:avLst>
              <a:gd name="adj" fmla="val 9877"/>
            </a:avLst>
          </a:prstGeom>
          <a:solidFill>
            <a:srgbClr val="F7F4EC">
              <a:alpha val="5000"/>
            </a:srgbClr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5486400" y="4343400"/>
            <a:ext cx="5867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7F4EC"/>
                </a:solidFill>
                <a:latin typeface="Microsoft YaHei"/>
                <a:ea typeface="Microsoft YaHei"/>
              </a:rPr>
              <a:t>可插拔</a:t>
            </a:r>
            <a:r>
              <a:rPr lang="en-US" sz="1200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F7F4EC"/>
                </a:solidFill>
                <a:latin typeface="Microsoft YaHei"/>
                <a:ea typeface="Microsoft YaHei"/>
              </a:rPr>
              <a:t>零依赖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486400" y="4572000"/>
            <a:ext cx="58674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仅用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Python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标准库即可运行；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LLM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可接任意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OpenAI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兼容端点，无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Key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时自动降级为模拟模式。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334000" y="5133975"/>
            <a:ext cx="6172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 xml:space="preserve">Python 3.10+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｜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标准库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｜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 xml:space="preserve"> DeepSeek-V4.1-Flash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（硅基流动）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85800" y="622935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瓯单通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企业智能体赛道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队伍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XO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1049000" y="62293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05 / 10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64" name="" descr="&lt;Slide style={{ width: 1280, height: 720, background: '#0F172A', padding: '40px 72px', flexDirection: 'column' }}&gt;&#10;  &lt;Box style={{ height: 84, flexDirection: 'column', justifyContent: 'center' }}&gt;&#10;    &lt;Text style={{ fontSize: 34, fontWeight: 'bold', color: '#F7F4EC' }}&gt;已经完成什么：六模块 + 五套测试全绿&lt;/Text&gt;&#10;    &lt;Text style={{ fontSize: 16, color: '#94A3B8', marginTop: 6 }}&gt;不是「差不多能跑」，而是每次改动都能一键回归、逐条断言&lt;/Text&gt;&#10;  &lt;/Box&gt;&#10;  &lt;Box style={{ flexDirection: 'row', gap: 16 }}&gt;&#10;    &lt;Box style={{ flex: 1, height: 188, background: 'rgba(6,182,212,0.10)', border: '1px solid rgba(6,182,212,0.35)', borderRadius: 10, flexDirection: 'column', alignItems: 'center', justifyContent: 'center', gap: 6 }}&gt;&#10;      &lt;Text style={{ fontSize: 66, fontWeight: 'bold', color: '#F7F4EC', fontFamily: 'Consolas', lineHeight: 1 }}&gt;154&lt;/Text&gt;&#10;      &lt;Text style={{ fontSize: 14, color: '#67E8F9' }}&gt;pipeline 断言&lt;/Text&gt;&#10;    &lt;/Box&gt;&#10;    &lt;Box style={{ flex: 1, height: 188, background: 'rgba(247,244,236,0.05)', border: '1px solid rgba(247,244,236,0.14)', borderRadius: 10, flexDirection: 'column', alignItems: 'center', justifyContent: 'center', gap: 6 }}&gt;&#10;      &lt;Text style={{ fontSize: 66, fontWeight: 'bold', color: '#F7F4EC', fontFamily: 'Consolas', lineHeight: 1 }}&gt;30&lt;/Text&gt;&#10;      &lt;Text style={{ fontSize: 14, color: '#94A3B8' }}&gt;场景走查轮次&lt;/Text&gt;&#10;    &lt;/Box&gt;&#10;    &lt;Box style={{ flex: 1, height: 188, background: 'rgba(247,244,236,0.05)', border: '1px solid rgba(247,244,236,0.14)', borderRadius: 10, flexDirection: 'column', alignItems: 'center', justifyContent: 'center', gap: 6 }}&gt;&#10;      &lt;Text style={{ fontSize: 66, fontWeight: 'bold', color: '#F7F4EC', fontFamily: 'Consolas', lineHeight: 1 }}&gt;14&lt;/Text&gt;&#10;      &lt;Text style={{ fontSize: 14, color: '#94A3B8' }}&gt;历史缺陷全修复&lt;/Text&gt;&#10;    &lt;/Box&gt;&#10;    &lt;Box style={{ flex: 1, height: 188, background: 'rgba(247,244,236,0.05)', border: '1px solid rgba(247,244,236,0.14)', borderRadius: 10, flexDirection: 'column', alignItems: 'center', justifyContent: 'center', gap: 6 }}&gt;&#10;      &lt;Text style={{ fontSize: 66, fontWeight: 'bold', color: '#F7F4EC', fontFamily: 'Consolas', lineHeight: 1 }}&gt;100&lt;/Text&gt;&#10;      &lt;Text style={{ fontSize: 14, color: '#94A3B8' }}&gt;真实模式回归项&lt;/Text&gt;&#10;    &lt;/Box&gt;&#10;    &lt;Box style={{ flex: 1, height: 188, background: 'rgba(247,244,236,0.05)', border: '1px solid rgba(247,244,236,0.14)', borderRadius: 10, flexDirection: 'column', alignItems: 'center', justifyContent: 'center', gap: 6 }}&gt;&#10;      &lt;Text style={{ fontSize: 66, fontWeight: 'bold', color: '#F7F4EC', fontFamily: 'Consolas', lineHeight: 1 }}&gt;22&lt;/Text&gt;&#10;      &lt;Text style={{ fontSize: 14, color: '#94A3B8' }}&gt;端到端验收项&lt;/Text&gt;&#10;    &lt;/Box&gt;&#10;  &lt;/Box&gt;&#10;  &lt;Box style={{ flex: 1, marginTop: 22, flexDirection: 'column', gap: 14 }}&gt;&#10;    &lt;Text style={{ fontSize: 18, fontWeight: 'bold', color: '#06B6D4' }}&gt;六个模块，对应六个真实环节&lt;/Text&gt;&#10;    &lt;Box style={{ flexDirection: 'row', gap: 12 }}&gt;&#10;      &lt;Box style={{ flex: 1, background: 'rgba(247,244,236,0.05)', borderRadius: 8, padding: '14px 12px', flexDirection: 'column', gap: 4 }}&gt;&#10;        &lt;Text style={{ fontSize: 15, fontWeight: 'bold', color: '#F7F4EC' }}&gt;模块一 · 抽取&lt;/Text&gt;&#10;        &lt;Text style={{ fontSize: 12, color: '#94A3B8' }}&gt;群聊 → 结构化字段&lt;/Text&gt;&#10;      &lt;/Box&gt;&#10;      &lt;Box style={{ flex: 1, background: 'rgba(247,244,236,0.05)', borderRadius: 8, padding: '14px 12px', flexDirection: 'column', gap: 4 }}&gt;&#10;        &lt;Text style={{ fontSize: 15, fontWeight: 'bold', color: '#F7F4EC' }}&gt;模块二 · 判定&lt;/Text&gt;&#10;        &lt;Text style={{ fontSize: 12, color: '#94A3B8' }}&gt;缺失 / 冲突 / 异常&lt;/Text&gt;&#10;      &lt;/Box&gt;&#10;      &lt;Box style={{ flex: 1, background: 'rgba(247,244,236,0.05)', borderRadius: 8, padding: '14px 12px', flexDirection: 'column', gap: 4 }}&gt;&#10;        &lt;Text style={{ fontSize: 15, fontWeight: 'bold', color: '#F7F4EC' }}&gt;模块三 · 台账&lt;/Text&gt;&#10;        &lt;Text style={{ fontSize: 12, color: '#94A3B8' }}&gt;状态机 / 分批 / 履历&lt;/Text&gt;&#10;      &lt;/Box&gt;&#10;      &lt;Box style={{ flex: 1, background: 'rgba(247,244,236,0.05)', borderRadius: 8, padding: '14px 12px', flexDirection: 'column', gap: 4 }}&gt;&#10;        &lt;Text style={{ fontSize: 15, fontWeight: 'bold', color: '#F7F4EC' }}&gt;模块四 · 查询简报&lt;/Text&gt;&#10;        &lt;Text style={{ fontSize: 12, color: '#94A3B8' }}&gt;查单 / 今日简报&lt;/Text&gt;&#10;      &lt;/Box&gt;&#10;      &lt;Box style={{ flex: 1, background: 'rgba(247,244,236,0.05)', borderRadius: 8, padding: '14px 12px', flexDirection: 'column', gap: 4 }}&gt;&#10;        &lt;Text style={{ fontSize: 15, fontWeight: 'bold', color: '#F7F4EC' }}&gt;模块五 · 测试&lt;/Text&gt;&#10;        &lt;Text style={{ fontSize: 12, color: '#94A3B8' }}&gt;五套回归 + 缺陷台账&lt;/Text&gt;&#10;      &lt;/Box&gt;&#10;      &lt;Box style={{ flex: 1, background: 'rgba(247,244,236,0.05)', borderRadius: 8, padding: '14px 12px', flexDirection: 'column', gap: 4 }}&gt;&#10;        &lt;Text style={{ fontSize: 15, fontWeight: 'bold', color: '#F7F4EC' }}&gt;模块六 · 网页&lt;/Text&gt;&#10;        &lt;Text style={{ fontSize: 12, color: '#94A3B8' }}&gt;沟通页 / 台账 / 筛选&lt;/Text&gt;&#10;      &lt;/Box&gt;&#10;    &lt;/Box&gt;&#10;    &lt;Text style={{ fontSize: 13, color: '#64748B', marginTop: 'auto' }}&gt;五套测试覆盖「抽取 → 判定 → 台账 → 真实模式 → 端到端」，每次改动都跑一遍；缺陷台账 14 项全部修复并留存回归守卫。&lt;/Text&gt;&#10;  &lt;/Box&gt;&#10;  &lt;Box style={{ height: 36, flexDirection: 'row', justifyContent: 'space-between', alignItems: 'center' }}&gt;&#10;    &lt;Text style={{ fontSize: 14, color: '#64748B' }}&gt;瓯单通 · 企业智能体赛道 · 队伍 XO&lt;/Text&gt;&#10;    &lt;Text style={{ fontSize: 14, color: '#64748B' }}&gt;06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85800" y="46672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已经完成什么：六模块</a:t>
            </a:r>
            <a:r>
              <a:rPr lang="en-US" sz="2550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五套测试全绿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85800" y="914400"/>
            <a:ext cx="1082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不是「差不多能跑」，而是每次改动都能一键回归、逐条断言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85800" y="1181100"/>
            <a:ext cx="2038350" cy="1790700"/>
          </a:xfrm>
          <a:prstGeom prst="roundRect">
            <a:avLst>
              <a:gd name="adj" fmla="val 5319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190625" y="1590675"/>
            <a:ext cx="1038225" cy="762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950" b="1">
                <a:solidFill>
                  <a:srgbClr val="F7F4EC"/>
                </a:solidFill>
                <a:latin typeface="Consolas"/>
                <a:ea typeface="Consolas"/>
              </a:rPr>
              <a:t>154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295400" y="2409825"/>
            <a:ext cx="819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7E8F9"/>
                </a:solidFill>
                <a:latin typeface="Microsoft YaHei"/>
                <a:ea typeface="Microsoft YaHei"/>
              </a:rPr>
              <a:t xml:space="preserve">pipeline </a:t>
            </a:r>
            <a:r>
              <a:rPr lang="zh-CN" sz="1050">
                <a:solidFill>
                  <a:srgbClr val="67E8F9"/>
                </a:solidFill>
                <a:latin typeface="Microsoft YaHei"/>
                <a:ea typeface="Microsoft YaHei"/>
              </a:rPr>
              <a:t>断言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2876550" y="1181100"/>
            <a:ext cx="2047875" cy="1790700"/>
          </a:xfrm>
          <a:prstGeom prst="roundRect">
            <a:avLst>
              <a:gd name="adj" fmla="val 5319"/>
            </a:avLst>
          </a:prstGeom>
          <a:solidFill>
            <a:srgbClr val="F7F4EC">
              <a:alpha val="5000"/>
            </a:srgbClr>
          </a:solidFill>
          <a:ln w="12700">
            <a:solidFill>
              <a:srgbClr val="F7F4EC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3552825" y="1590675"/>
            <a:ext cx="695325" cy="762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950" b="1">
                <a:solidFill>
                  <a:srgbClr val="F7F4EC"/>
                </a:solidFill>
                <a:latin typeface="Consolas"/>
                <a:ea typeface="Consolas"/>
              </a:rPr>
              <a:t>30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3505200" y="240982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场景走查轮次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5076825" y="1181100"/>
            <a:ext cx="2038350" cy="1790700"/>
          </a:xfrm>
          <a:prstGeom prst="roundRect">
            <a:avLst>
              <a:gd name="adj" fmla="val 5319"/>
            </a:avLst>
          </a:prstGeom>
          <a:solidFill>
            <a:srgbClr val="F7F4EC">
              <a:alpha val="5000"/>
            </a:srgbClr>
          </a:solidFill>
          <a:ln w="12700">
            <a:solidFill>
              <a:srgbClr val="F7F4EC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753100" y="1590675"/>
            <a:ext cx="695325" cy="762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950" b="1">
                <a:solidFill>
                  <a:srgbClr val="F7F4EC"/>
                </a:solidFill>
                <a:latin typeface="Consolas"/>
                <a:ea typeface="Consolas"/>
              </a:rPr>
              <a:t>14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5629275" y="240982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历史缺陷全修复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7267575" y="1181100"/>
            <a:ext cx="2047875" cy="1790700"/>
          </a:xfrm>
          <a:prstGeom prst="roundRect">
            <a:avLst>
              <a:gd name="adj" fmla="val 5319"/>
            </a:avLst>
          </a:prstGeom>
          <a:solidFill>
            <a:srgbClr val="F7F4EC">
              <a:alpha val="5000"/>
            </a:srgbClr>
          </a:solidFill>
          <a:ln w="12700">
            <a:solidFill>
              <a:srgbClr val="F7F4EC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772400" y="1590675"/>
            <a:ext cx="1038225" cy="762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950" b="1">
                <a:solidFill>
                  <a:srgbClr val="F7F4EC"/>
                </a:solidFill>
                <a:latin typeface="Consolas"/>
                <a:ea typeface="Consolas"/>
              </a:rPr>
              <a:t>100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7829550" y="240982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真实模式回归项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9467850" y="1181100"/>
            <a:ext cx="2038350" cy="1790700"/>
          </a:xfrm>
          <a:prstGeom prst="roundRect">
            <a:avLst>
              <a:gd name="adj" fmla="val 5319"/>
            </a:avLst>
          </a:prstGeom>
          <a:solidFill>
            <a:srgbClr val="F7F4EC">
              <a:alpha val="5000"/>
            </a:srgbClr>
          </a:solidFill>
          <a:ln w="12700">
            <a:solidFill>
              <a:srgbClr val="F7F4EC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0144125" y="1590675"/>
            <a:ext cx="695325" cy="762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950" b="1">
                <a:solidFill>
                  <a:srgbClr val="F7F4EC"/>
                </a:solidFill>
                <a:latin typeface="Consolas"/>
                <a:ea typeface="Consolas"/>
              </a:rPr>
              <a:t>22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0086975" y="240982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端到端验收项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85800" y="3181350"/>
            <a:ext cx="10820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6B6D4"/>
                </a:solidFill>
                <a:latin typeface="Microsoft YaHei"/>
                <a:ea typeface="Microsoft YaHei"/>
              </a:rPr>
              <a:t>六个模块，对应六个真实环节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85800" y="3524250"/>
            <a:ext cx="1704975" cy="619125"/>
          </a:xfrm>
          <a:prstGeom prst="roundRect">
            <a:avLst>
              <a:gd name="adj" fmla="val 12308"/>
            </a:avLst>
          </a:prstGeom>
          <a:solidFill>
            <a:srgbClr val="F7F4EC">
              <a:alpha val="5000"/>
            </a:srgbClr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00100" y="3657600"/>
            <a:ext cx="1476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模块一</a:t>
            </a:r>
            <a:r>
              <a:rPr lang="en-US" sz="1125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抽取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00100" y="3867150"/>
            <a:ext cx="1476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群聊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结构化字段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2505075" y="3524250"/>
            <a:ext cx="1714500" cy="619125"/>
          </a:xfrm>
          <a:prstGeom prst="roundRect">
            <a:avLst>
              <a:gd name="adj" fmla="val 12308"/>
            </a:avLst>
          </a:prstGeom>
          <a:solidFill>
            <a:srgbClr val="F7F4EC">
              <a:alpha val="5000"/>
            </a:srgbClr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2619375" y="3657600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模块二</a:t>
            </a:r>
            <a:r>
              <a:rPr lang="en-US" sz="1125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判定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2619375" y="3867150"/>
            <a:ext cx="1485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缺失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冲突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异常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4333875" y="3524250"/>
            <a:ext cx="1704975" cy="619125"/>
          </a:xfrm>
          <a:prstGeom prst="roundRect">
            <a:avLst>
              <a:gd name="adj" fmla="val 12308"/>
            </a:avLst>
          </a:prstGeom>
          <a:solidFill>
            <a:srgbClr val="F7F4EC">
              <a:alpha val="5000"/>
            </a:srgbClr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448175" y="3657600"/>
            <a:ext cx="1476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模块三</a:t>
            </a:r>
            <a:r>
              <a:rPr lang="en-US" sz="1125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台账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4448175" y="3867150"/>
            <a:ext cx="1476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状态机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分批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履历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6153150" y="3524250"/>
            <a:ext cx="1704975" cy="619125"/>
          </a:xfrm>
          <a:prstGeom prst="roundRect">
            <a:avLst>
              <a:gd name="adj" fmla="val 12308"/>
            </a:avLst>
          </a:prstGeom>
          <a:solidFill>
            <a:srgbClr val="F7F4EC">
              <a:alpha val="5000"/>
            </a:srgbClr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267450" y="3657600"/>
            <a:ext cx="1476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模块四</a:t>
            </a:r>
            <a:r>
              <a:rPr lang="en-US" sz="1125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查询简报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267450" y="3867150"/>
            <a:ext cx="1476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查单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今日简报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7972425" y="3524250"/>
            <a:ext cx="1714500" cy="619125"/>
          </a:xfrm>
          <a:prstGeom prst="roundRect">
            <a:avLst>
              <a:gd name="adj" fmla="val 12308"/>
            </a:avLst>
          </a:prstGeom>
          <a:solidFill>
            <a:srgbClr val="F7F4EC">
              <a:alpha val="5000"/>
            </a:srgbClr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086725" y="3657600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模块五</a:t>
            </a:r>
            <a:r>
              <a:rPr lang="en-US" sz="1125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测试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086725" y="3867150"/>
            <a:ext cx="1485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五套回归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缺陷台账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9801225" y="3524250"/>
            <a:ext cx="1704975" cy="619125"/>
          </a:xfrm>
          <a:prstGeom prst="roundRect">
            <a:avLst>
              <a:gd name="adj" fmla="val 12308"/>
            </a:avLst>
          </a:prstGeom>
          <a:solidFill>
            <a:srgbClr val="F7F4EC">
              <a:alpha val="5000"/>
            </a:srgbClr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9915525" y="3657600"/>
            <a:ext cx="1476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模块六</a:t>
            </a:r>
            <a:r>
              <a:rPr lang="en-US" sz="1125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网页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9915525" y="3867150"/>
            <a:ext cx="1476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沟通页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台账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筛选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85800" y="5981700"/>
            <a:ext cx="1082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五套测试覆盖「抽取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判定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台账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真实模式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端到端」，每次改动都跑一遍；缺陷台账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14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项全部修复并留存回归守卫。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85800" y="622935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瓯单通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企业智能体赛道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队伍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XO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11049000" y="62293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06 / 10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05" name="" descr="&lt;Slide style={{ width: 1280, height: 720, background: '#0F172A', padding: '40px 72px', flexDirection: 'column' }}&gt;&#10;  &lt;Box style={{ height: 84, flexDirection: 'column', justifyContent: 'center' }}&gt;&#10;    &lt;Text style={{ fontSize: 34, fontWeight: 'bold', color: '#F7F4EC' }}&gt;现场可验证：两个真实场景，输入即结果&lt;/Text&gt;&#10;    &lt;Text style={{ fontSize: 16, color: '#94A3B8', marginTop: 6 }}&gt;下面两段对话可在网页「微信沟通」页直接复现，结果与台账一一对应&lt;/Text&gt;&#10;  &lt;/Box&gt;&#10;  &lt;Box style={{ flex: 1, flexDirection: 'row', gap: 20, alignItems: 'center' }}&gt;&#10;    &lt;Box style={{ flex: 1, height: 440, background: 'rgba(247,244,236,0.05)', border: '1px solid rgba(247,244,236,0.14)', borderRadius: 12, padding: 22, flexDirection: 'column', gap: 9 }}&gt;&#10;      &lt;Text style={{ fontSize: 19, fontWeight: 'bold', color: '#F7F4EC' }}&gt;案例 A · 改数量直接更新&lt;/Text&gt;&#10;      &lt;Box style={{ background: 'rgba(247,244,236,0.06)', borderRadius: 8, padding: 14, flexDirection: 'column', gap: 4 }}&gt;&#10;        &lt;Text style={{ fontSize: 12, color: '#64748B' }}&gt;客户「李姐」发来&lt;/Text&gt;&#10;        &lt;Text style={{ fontSize: 15, color: '#CBD5E1' }}&gt;「小陈，DZ47 那个加到 80 个」&lt;/Text&gt;&#10;      &lt;/Box&gt;&#10;      &lt;Text style={{ fontSize: 13, color: '#94A3B8', lineHeight: 1.65 }}&gt;处理：抽取客户 / 产品 / 数量 → 命中在途单 ORD-02 → 校验通过 → 直接落库，并写入变更履历。&lt;/Text&gt;&#10;      &lt;Box style={{ background: 'rgba(6,182,212,0.10)', border: '1px solid rgba(6,182,212,0.32)', borderRadius: 8, padding: 14, flexDirection: 'column', gap: 5 }}&gt;&#10;        &lt;Text style={{ fontSize: 15, fontWeight: 'bold', color: '#67E8F9' }}&gt;✅ 已更新订单 ORD-20261024-02&lt;/Text&gt;&#10;        &lt;Text style={{ fontSize: 13, color: '#CBD5E1' }}&gt;数量 ×80 ｜ 单价 26 ｜ 交期 2026-10-27&lt;/Text&gt;&#10;        &lt;Text style={{ fontSize: 13, color: '#94A3B8' }}&gt;变更履历：数量 50 → 80，依据可回溯&lt;/Text&gt;&#10;      &lt;/Box&gt;&#10;      &lt;Box style={{ background: 'rgba(247,244,236,0.04)', borderRadius: 8, padding: '10px 12px' }}&gt;&#10;        &lt;Text style={{ fontSize: 12, color: '#94A3B8', lineHeight: 1.6 }}&gt;验证：右栏台账数量即时变 80；展开「变更履历」可见「数量 50 → 80」与原文依据。&lt;/Text&gt;&#10;      &lt;/Box&gt;&#10;      &lt;Text style={{ fontSize: 13, color: '#06B6D4', marginTop: 'auto' }}&gt;→ 一条消息直接更新，不再让人二次确认&lt;/Text&gt;&#10;    &lt;/Box&gt;&#10;    &lt;Box style={{ flex: 1, height: 440, background: 'rgba(247,244,236,0.05)', border: '1px solid rgba(247,244,236,0.14)', borderRadius: 12, padding: 22, flexDirection: 'column', gap: 9 }}&gt;&#10;      &lt;Text style={{ fontSize: 19, fontWeight: 'bold', color: '#F7F4EC' }}&gt;案例 B · 追加单数量模糊也不漏&lt;/Text&gt;&#10;      &lt;Box style={{ background: 'rgba(247,244,236,0.06)', borderRadius: 8, padding: 14, flexDirection: 'column', gap: 4 }}&gt;&#10;        &lt;Text style={{ fontSize: 12, color: '#64748B' }}&gt;客户「王总」发来&lt;/Text&gt;&#10;        &lt;Text style={{ fontSize: 15, color: '#CBD5E1' }}&gt;「法兰那批的货再帮我排上一批，我这边急」&lt;/Text&gt;&#10;      &lt;/Box&gt;&#10;      &lt;Text style={{ fontSize: 13, color: '#94A3B8', lineHeight: 1.65 }}&gt;处理：识别为「追加」→「一批」按模糊量词判缺失 → 登记「待补充」追加单，挂到原单 ORD-01 下。&lt;/Text&gt;&#10;      &lt;Box style={{ background: 'rgba(6,182,212,0.10)', border: '1px solid rgba(6,182,212,0.32)', borderRadius: 8, padding: 14, flexDirection: 'column', gap: 5 }}&gt;&#10;        &lt;Text style={{ fontSize: 15, fontWeight: 'bold', color: '#67E8F9' }}&gt;🟡📥 已登记追加单（数量待补）&lt;/Text&gt;&#10;        &lt;Text style={{ fontSize: 13, color: '#CBD5E1' }}&gt;追加自 ORD-01，原单不改动&lt;/Text&gt;&#10;        &lt;Text style={{ fontSize: 13, color: '#94A3B8' }}&gt;台账新增一笔，汇总不漏计；补齐数量后补全该单&lt;/Text&gt;&#10;      &lt;/Box&gt;&#10;      &lt;Box style={{ background: 'rgba(247,244,236,0.04)', borderRadius: 8, padding: '10px 12px' }}&gt;&#10;        &lt;Text style={{ fontSize: 12, color: '#94A3B8', lineHeight: 1.6 }}&gt;验证：台账多出一笔「待补充」追加单，订单总数 +1；补齐数量后自动转正，不重复建单。&lt;/Text&gt;&#10;      &lt;/Box&gt;&#10;      &lt;Text style={{ fontSize: 13, color: '#06B6D4', marginTop: 'auto' }}&gt;→ 客户信息缺失、数量说不清，也不丢单&lt;/Text&gt;&#10;    &lt;/Box&gt;&#10;  &lt;/Box&gt;&#10;  &lt;Box style={{ height: 36, flexDirection: 'row', justifyContent: 'space-between', alignItems: 'center' }}&gt;&#10;    &lt;Text style={{ fontSize: 14, color: '#64748B' }}&gt;瓯单通 · 企业智能体赛道 · 队伍 XO&lt;/Text&gt;&#10;    &lt;Text style={{ fontSize: 14, color: '#64748B' }}&gt;07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85800" y="46672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现场可验证：两个真实场景，输入即结果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85800" y="914400"/>
            <a:ext cx="1082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下面两段对话可在网页「微信沟通」页直接复现，结果与台账一一对应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85800" y="1562100"/>
            <a:ext cx="5314950" cy="4191000"/>
          </a:xfrm>
          <a:prstGeom prst="roundRect">
            <a:avLst>
              <a:gd name="adj" fmla="val 2727"/>
            </a:avLst>
          </a:prstGeom>
          <a:solidFill>
            <a:srgbClr val="F7F4EC">
              <a:alpha val="5000"/>
            </a:srgbClr>
          </a:solidFill>
          <a:ln w="12700">
            <a:solidFill>
              <a:srgbClr val="F7F4EC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95350" y="1771650"/>
            <a:ext cx="489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7F4EC"/>
                </a:solidFill>
                <a:latin typeface="Microsoft YaHei"/>
                <a:ea typeface="Microsoft YaHei"/>
              </a:rPr>
              <a:t>案例</a:t>
            </a:r>
            <a:r>
              <a:rPr lang="en-US" sz="1425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 A · </a:t>
            </a:r>
            <a:r>
              <a:rPr lang="zh-CN" sz="1425" b="1">
                <a:solidFill>
                  <a:srgbClr val="F7F4EC"/>
                </a:solidFill>
                <a:latin typeface="Microsoft YaHei"/>
                <a:ea typeface="Microsoft YaHei"/>
              </a:rPr>
              <a:t>改数量直接更新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895350" y="2076450"/>
            <a:ext cx="4895850" cy="619125"/>
          </a:xfrm>
          <a:prstGeom prst="roundRect">
            <a:avLst>
              <a:gd name="adj" fmla="val 12308"/>
            </a:avLst>
          </a:prstGeom>
          <a:solidFill>
            <a:srgbClr val="F7F4EC">
              <a:alpha val="6000"/>
            </a:srgbClr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028700" y="2209800"/>
            <a:ext cx="4629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客户「李姐」发来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028700" y="2390775"/>
            <a:ext cx="462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「小陈，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DZ47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那个加到</a:t>
            </a:r>
            <a:r>
              <a:rPr lang="en-US" sz="1125">
                <a:solidFill>
                  <a:srgbClr val="CBD5E1"/>
                </a:solidFill>
                <a:latin typeface="Microsoft YaHei"/>
                <a:ea typeface="Microsoft YaHei"/>
              </a:rPr>
              <a:t xml:space="preserve"> 80 </a:t>
            </a: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个」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95350" y="2781300"/>
            <a:ext cx="48958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处理：抽取客户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产品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数量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命中在途单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ORD-02 →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校验通过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直接落库，并写入变更履历。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895350" y="3362325"/>
            <a:ext cx="4895850" cy="838200"/>
          </a:xfrm>
          <a:prstGeom prst="roundRect">
            <a:avLst>
              <a:gd name="adj" fmla="val 9091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028700" y="3495675"/>
            <a:ext cx="462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67E8F9"/>
                </a:solidFill>
                <a:latin typeface="Microsoft YaHei"/>
                <a:ea typeface="Microsoft YaHei"/>
              </a:rPr>
              <a:t xml:space="preserve">✅ </a:t>
            </a:r>
            <a:r>
              <a:rPr lang="zh-CN" sz="1125" b="1">
                <a:solidFill>
                  <a:srgbClr val="67E8F9"/>
                </a:solidFill>
                <a:latin typeface="Microsoft YaHei"/>
                <a:ea typeface="Microsoft YaHei"/>
              </a:rPr>
              <a:t>已更新订单</a:t>
            </a:r>
            <a:r>
              <a:rPr lang="en-US" sz="1125" b="1">
                <a:solidFill>
                  <a:srgbClr val="67E8F9"/>
                </a:solidFill>
                <a:latin typeface="Microsoft YaHei"/>
                <a:ea typeface="Microsoft YaHei"/>
              </a:rPr>
              <a:t xml:space="preserve"> ORD-20261024-02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028700" y="3714750"/>
            <a:ext cx="4629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数量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 xml:space="preserve"> ×80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｜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单价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 xml:space="preserve"> 26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｜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交期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 xml:space="preserve"> 2026-10-27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028700" y="3914775"/>
            <a:ext cx="4629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变更履历：数量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50 → 80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，依据可回溯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895350" y="4286250"/>
            <a:ext cx="4895850" cy="419100"/>
          </a:xfrm>
          <a:prstGeom prst="roundRect">
            <a:avLst>
              <a:gd name="adj" fmla="val 18182"/>
            </a:avLst>
          </a:prstGeom>
          <a:solidFill>
            <a:srgbClr val="F7F4EC">
              <a:alpha val="4000"/>
            </a:srgbClr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009650" y="4381500"/>
            <a:ext cx="466725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验证：右栏台账数量即时变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80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；展开「变更履历」可见「数量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50 → 80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」与原文依据。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95350" y="5391150"/>
            <a:ext cx="489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6B6D4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975">
                <a:solidFill>
                  <a:srgbClr val="06B6D4"/>
                </a:solidFill>
                <a:latin typeface="Microsoft YaHei"/>
                <a:ea typeface="Microsoft YaHei"/>
              </a:rPr>
              <a:t>一条消息直接更新，不再让人二次确认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191250" y="1562100"/>
            <a:ext cx="5314950" cy="4191000"/>
          </a:xfrm>
          <a:prstGeom prst="roundRect">
            <a:avLst>
              <a:gd name="adj" fmla="val 2727"/>
            </a:avLst>
          </a:prstGeom>
          <a:solidFill>
            <a:srgbClr val="F7F4EC">
              <a:alpha val="5000"/>
            </a:srgbClr>
          </a:solidFill>
          <a:ln w="12700">
            <a:solidFill>
              <a:srgbClr val="F7F4EC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400800" y="1771650"/>
            <a:ext cx="489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7F4EC"/>
                </a:solidFill>
                <a:latin typeface="Microsoft YaHei"/>
                <a:ea typeface="Microsoft YaHei"/>
              </a:rPr>
              <a:t>案例</a:t>
            </a:r>
            <a:r>
              <a:rPr lang="en-US" sz="1425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 B · </a:t>
            </a:r>
            <a:r>
              <a:rPr lang="zh-CN" sz="1425" b="1">
                <a:solidFill>
                  <a:srgbClr val="F7F4EC"/>
                </a:solidFill>
                <a:latin typeface="Microsoft YaHei"/>
                <a:ea typeface="Microsoft YaHei"/>
              </a:rPr>
              <a:t>追加单数量模糊也不漏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400800" y="2076450"/>
            <a:ext cx="4895850" cy="619125"/>
          </a:xfrm>
          <a:prstGeom prst="roundRect">
            <a:avLst>
              <a:gd name="adj" fmla="val 12308"/>
            </a:avLst>
          </a:prstGeom>
          <a:solidFill>
            <a:srgbClr val="F7F4EC">
              <a:alpha val="6000"/>
            </a:srgbClr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534150" y="2209800"/>
            <a:ext cx="4629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客户「王总」发来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534150" y="2390775"/>
            <a:ext cx="462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「法兰那批的货再帮我排上一批，我这边急」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400800" y="2781300"/>
            <a:ext cx="48958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处理：识别为「追加」→「一批」按模糊量词判缺失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登记「待补充」追加单，挂到原单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ORD-01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下。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6400800" y="3362325"/>
            <a:ext cx="4895850" cy="838200"/>
          </a:xfrm>
          <a:prstGeom prst="roundRect">
            <a:avLst>
              <a:gd name="adj" fmla="val 9091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534150" y="3495675"/>
            <a:ext cx="462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67E8F9"/>
                </a:solidFill>
                <a:latin typeface="Microsoft YaHei"/>
                <a:ea typeface="Microsoft YaHei"/>
              </a:rPr>
              <a:t xml:space="preserve">🟡📥 </a:t>
            </a:r>
            <a:r>
              <a:rPr lang="zh-CN" sz="1125" b="1">
                <a:solidFill>
                  <a:srgbClr val="67E8F9"/>
                </a:solidFill>
                <a:latin typeface="Microsoft YaHei"/>
                <a:ea typeface="Microsoft YaHei"/>
              </a:rPr>
              <a:t>已登记追加单（数量待补）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534150" y="3714750"/>
            <a:ext cx="4629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追加自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 xml:space="preserve"> ORD-01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，原单不改动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534150" y="3914775"/>
            <a:ext cx="4629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台账新增一笔，汇总不漏计；补齐数量后补全该单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6400800" y="4286250"/>
            <a:ext cx="4895850" cy="419100"/>
          </a:xfrm>
          <a:prstGeom prst="roundRect">
            <a:avLst>
              <a:gd name="adj" fmla="val 18182"/>
            </a:avLst>
          </a:prstGeom>
          <a:solidFill>
            <a:srgbClr val="F7F4EC">
              <a:alpha val="4000"/>
            </a:srgbClr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515100" y="4381500"/>
            <a:ext cx="466725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验证：台账多出一笔「待补充」追加单，订单总数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+1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；补齐数量后自动转正，不重复建单。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400800" y="5391150"/>
            <a:ext cx="489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6B6D4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975">
                <a:solidFill>
                  <a:srgbClr val="06B6D4"/>
                </a:solidFill>
                <a:latin typeface="Microsoft YaHei"/>
                <a:ea typeface="Microsoft YaHei"/>
              </a:rPr>
              <a:t>客户信息缺失、数量说不清，也不丢单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85800" y="622935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瓯单通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企业智能体赛道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队伍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XO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1049000" y="62293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07 / 10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37" name="" descr="&lt;Slide style={{ width: 1280, height: 720, background: '#0F172A', padding: '40px 72px', flexDirection: 'column' }}&gt;&#10;  &lt;Box style={{ height: 84, flexDirection: 'column', justifyContent: 'center' }}&gt;&#10;    &lt;Text style={{ fontSize: 34, fontWeight: 'bold', color: '#F7F4EC' }}&gt;团队分工 · AI 工具栈 · 第三方资源&lt;/Text&gt;&#10;    &lt;Text style={{ fontSize: 16, color: '#94A3B8', marginTop: 6 }}&gt;4 人小队，按模块分工；工具与资源如实标注，便于组委会核验&lt;/Text&gt;&#10;  &lt;/Box&gt;&#10;  &lt;Box style={{ flex: 1, flexDirection: 'row', gap: 30 }}&gt;&#10;    &lt;Box style={{ flex: 1, flexDirection: 'column', gap: 10, justifyContent: 'space-between' }}&gt;&#10;      &lt;Text style={{ fontSize: 17, fontWeight: 'bold', color: '#06B6D4' }}&gt;团队成员分工（4 人）&lt;/Text&gt;&#10;      &lt;Box style={{ background: 'rgba(247,244,236,0.05)', borderRadius: 8, padding: '14px 16px', flexDirection: 'column', gap: 3 }}&gt;&#10;        &lt;Text style={{ fontSize: 15, fontWeight: 'bold', color: '#F7F4EC' }}&gt;队长 · A&lt;/Text&gt;&#10;        &lt;Text style={{ fontSize: 13, color: '#94A3B8' }}&gt;总体架构、智能体编排（agent.py）、交付打包与联调&lt;/Text&gt;&#10;      &lt;/Box&gt;&#10;      &lt;Box style={{ background: 'rgba(247,244,236,0.05)', borderRadius: 8, padding: '14px 16px', flexDirection: 'column', gap: 3 }}&gt;&#10;        &lt;Text style={{ fontSize: 15, fontWeight: 'bold', color: '#F7F4EC' }}&gt;队友 B&lt;/Text&gt;&#10;        &lt;Text style={{ fontSize: 13, color: '#94A3B8' }}&gt;模块五：卡片交互与话术、五套测试、缺陷台账&lt;/Text&gt;&#10;      &lt;/Box&gt;&#10;      &lt;Box style={{ background: 'rgba(247,244,236,0.05)', borderRadius: 8, padding: '14px 16px', flexDirection: 'column', gap: 3 }}&gt;&#10;        &lt;Text style={{ fontSize: 15, fontWeight: 'bold', color: '#F7F4EC' }}&gt;队友 C&lt;/Text&gt;&#10;        &lt;Text style={{ fontSize: 13, color: '#94A3B8' }}&gt;模块六：网页端（沟通页 / 台账 / 四维筛选）&lt;/Text&gt;&#10;      &lt;/Box&gt;&#10;      &lt;Box style={{ background: 'rgba(247,244,236,0.05)', borderRadius: 8, padding: '14px 16px', flexDirection: 'column', gap: 3 }}&gt;&#10;        &lt;Text style={{ fontSize: 15, fontWeight: 'bold', color: '#F7F4EC' }}&gt;队友 D&lt;/Text&gt;&#10;        &lt;Text style={{ fontSize: 13, color: '#94A3B8' }}&gt;模块三：台账与状态机、契约口径（contracts）&lt;/Text&gt;&#10;      &lt;/Box&gt;&#10;      &lt;Box style={{ background: 'rgba(6,182,212,0.08)', borderRadius: 8, padding: '12px 16px', marginTop: 'auto' }}&gt;&#10;        &lt;Text style={{ fontSize: 12, color: '#94A3B8', lineHeight: 1.6 }}&gt;协作方式：每人独立分支 + Pull Request，合并前互审；AI 辅助编码，人工审核与测试把关。&lt;/Text&gt;&#10;      &lt;/Box&gt;&#10;    &lt;/Box&gt;&#10;    &lt;Box style={{ flex: 1, flexDirection: 'column', gap: 12 }}&gt;&#10;      &lt;Text style={{ fontSize: 17, fontWeight: 'bold', color: '#06B6D4' }}&gt;AI 工具栈与技术来源&lt;/Text&gt;&#10;      &lt;Box style={{ background: 'rgba(247,244,236,0.05)', borderRadius: 8, padding: '14px 16px', flexDirection: 'column', gap: 5 }}&gt;&#10;        &lt;Text style={{ fontSize: 15, fontWeight: 'bold', color: '#F7F4EC' }}&gt;AI 工具栈&lt;/Text&gt;&#10;        &lt;Text style={{ fontSize: 13, color: '#94A3B8', lineHeight: 1.7 }}&gt;DeepSeek-V4.1-Flash（硅基流动，OpenAI 兼容端点）· WorkBuddy（AI 开发环境）· GitHub（版本与协作）&lt;/Text&gt;&#10;      &lt;/Box&gt;&#10;      &lt;Box style={{ background: 'rgba(247,244,236,0.05)', borderRadius: 8, padding: '14px 16px', flexDirection: 'column', gap: 5 }}&gt;&#10;        &lt;Text style={{ fontSize: 15, fontWeight: 'bold', color: '#F7F4EC' }}&gt;第三方资源&lt;/Text&gt;&#10;        &lt;Text style={{ fontSize: 13, color: '#94A3B8', lineHeight: 1.7 }}&gt;仅使用 Python 标准库，无第三方依赖；演示数据全部自造（模拟），不含真实企业数据与外部素材。&lt;/Text&gt;&#10;      &lt;/Box&gt;&#10;      &lt;Box style={{ background: 'rgba(247,244,236,0.05)', borderRadius: 8, padding: '14px 16px', flexDirection: 'column', gap: 5 }}&gt;&#10;        &lt;Text style={{ fontSize: 15, fontWeight: 'bold', color: '#F7F4EC' }}&gt;AI 使用边界&lt;/Text&gt;&#10;        &lt;Text style={{ fontSize: 13, color: '#94A3B8', lineHeight: 1.7 }}&gt;LLM 仅用于「把群聊抽成结构化字段」；缺失 / 冲突判定、状态流转、话术模板全部为本地规则，可复现、可回归。&lt;/Text&gt;&#10;      &lt;/Box&gt;&#10;      &lt;Box style={{ background: 'rgba(247,244,236,0.05)', borderRadius: 8, padding: '14px 16px', flexDirection: 'column', gap: 5, marginTop: 'auto' }}&gt;&#10;        &lt;Text style={{ fontSize: 15, fontWeight: 'bold', color: '#F7F4EC' }}&gt;开发记录&lt;/Text&gt;&#10;        &lt;Text style={{ fontSize: 13, color: '#94A3B8', lineHeight: 1.7 }}&gt;GitHub 仓库保留完整提交与 PR 记录（#1–#38）；含模块说明、测试报告与缺陷台账，可随时核验。&lt;/Text&gt;&#10;      &lt;/Box&gt;&#10;    &lt;/Box&gt;&#10;  &lt;/Box&gt;&#10;  &lt;Box style={{ height: 36, flexDirection: 'row', justifyContent: 'space-between', alignItems: 'center' }}&gt;&#10;    &lt;Text style={{ fontSize: 14, color: '#64748B' }}&gt;瓯单通 · 企业智能体赛道 · 队伍 XO&lt;/Text&gt;&#10;    &lt;Text style={{ fontSize: 14, color: '#64748B' }}&gt;08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85800" y="46672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团队分工</a:t>
            </a:r>
            <a:r>
              <a:rPr lang="en-US" sz="2550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工具栈</a:t>
            </a:r>
            <a:r>
              <a:rPr lang="en-US" sz="2550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第三方资源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85800" y="914400"/>
            <a:ext cx="1082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人小队，按模块分工；工具与资源如实标注，便于组委会核验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85800" y="1181100"/>
            <a:ext cx="526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6B6D4"/>
                </a:solidFill>
                <a:latin typeface="Microsoft YaHei"/>
                <a:ea typeface="Microsoft YaHei"/>
              </a:rPr>
              <a:t>团队成员分工（</a:t>
            </a:r>
            <a:r>
              <a:rPr lang="en-US" sz="1275" b="1">
                <a:solidFill>
                  <a:srgbClr val="06B6D4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275" b="1">
                <a:solidFill>
                  <a:srgbClr val="06B6D4"/>
                </a:solidFill>
                <a:latin typeface="Microsoft YaHei"/>
                <a:ea typeface="Microsoft YaHei"/>
              </a:rPr>
              <a:t>人）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685800" y="1476375"/>
            <a:ext cx="5267325" cy="619125"/>
          </a:xfrm>
          <a:prstGeom prst="roundRect">
            <a:avLst>
              <a:gd name="adj" fmla="val 12308"/>
            </a:avLst>
          </a:prstGeom>
          <a:solidFill>
            <a:srgbClr val="F7F4EC">
              <a:alpha val="5000"/>
            </a:srgbClr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38200" y="1609725"/>
            <a:ext cx="4962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队长</a:t>
            </a:r>
            <a:r>
              <a:rPr lang="en-US" sz="1125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 · A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38200" y="1809750"/>
            <a:ext cx="4962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总体架构、智能体编排（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agent.py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）、交付打包与联调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685800" y="2190750"/>
            <a:ext cx="5267325" cy="619125"/>
          </a:xfrm>
          <a:prstGeom prst="roundRect">
            <a:avLst>
              <a:gd name="adj" fmla="val 12308"/>
            </a:avLst>
          </a:prstGeom>
          <a:solidFill>
            <a:srgbClr val="F7F4EC">
              <a:alpha val="5000"/>
            </a:srgbClr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838200" y="2324100"/>
            <a:ext cx="4962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队友</a:t>
            </a:r>
            <a:r>
              <a:rPr lang="en-US" sz="1125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 B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838200" y="2524125"/>
            <a:ext cx="4962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模块五：卡片交互与话术、五套测试、缺陷台账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685800" y="2905125"/>
            <a:ext cx="5267325" cy="619125"/>
          </a:xfrm>
          <a:prstGeom prst="roundRect">
            <a:avLst>
              <a:gd name="adj" fmla="val 12308"/>
            </a:avLst>
          </a:prstGeom>
          <a:solidFill>
            <a:srgbClr val="F7F4EC">
              <a:alpha val="5000"/>
            </a:srgbClr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838200" y="3038475"/>
            <a:ext cx="4962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队友</a:t>
            </a:r>
            <a:r>
              <a:rPr lang="en-US" sz="1125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 C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38200" y="3238500"/>
            <a:ext cx="4962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模块六：网页端（沟通页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台账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四维筛选）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685800" y="3619500"/>
            <a:ext cx="5267325" cy="619125"/>
          </a:xfrm>
          <a:prstGeom prst="roundRect">
            <a:avLst>
              <a:gd name="adj" fmla="val 12308"/>
            </a:avLst>
          </a:prstGeom>
          <a:solidFill>
            <a:srgbClr val="F7F4EC">
              <a:alpha val="5000"/>
            </a:srgbClr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38200" y="3752850"/>
            <a:ext cx="4962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队友</a:t>
            </a:r>
            <a:r>
              <a:rPr lang="en-US" sz="1125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 D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838200" y="3952875"/>
            <a:ext cx="4962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模块三：台账与状态机、契约口径（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contracts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685800" y="5676900"/>
            <a:ext cx="5267325" cy="457200"/>
          </a:xfrm>
          <a:prstGeom prst="roundRect">
            <a:avLst>
              <a:gd name="adj" fmla="val 16667"/>
            </a:avLst>
          </a:prstGeom>
          <a:solidFill>
            <a:srgbClr val="06B6D4">
              <a:alpha val="8000"/>
            </a:srgbClr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38200" y="5791200"/>
            <a:ext cx="496252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协作方式：每人独立分支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+ Pull Request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，合并前互审；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辅助编码，人工审核与测试把关。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238875" y="1181100"/>
            <a:ext cx="526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6B6D4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75" b="1">
                <a:solidFill>
                  <a:srgbClr val="06B6D4"/>
                </a:solidFill>
                <a:latin typeface="Microsoft YaHei"/>
                <a:ea typeface="Microsoft YaHei"/>
              </a:rPr>
              <a:t>工具栈与技术来源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6238875" y="1495425"/>
            <a:ext cx="5267325" cy="1000125"/>
          </a:xfrm>
          <a:prstGeom prst="roundRect">
            <a:avLst>
              <a:gd name="adj" fmla="val 7619"/>
            </a:avLst>
          </a:prstGeom>
          <a:solidFill>
            <a:srgbClr val="F7F4EC">
              <a:alpha val="5000"/>
            </a:srgbClr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391275" y="1628775"/>
            <a:ext cx="4962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工具栈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391275" y="1847850"/>
            <a:ext cx="49625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DeepSeek-V4.1-Flash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（硅基流动，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OpenAI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兼容端点）·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WorkBuddy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（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开发环境）·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GitHub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（版本与协作）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6238875" y="2609850"/>
            <a:ext cx="5267325" cy="1000125"/>
          </a:xfrm>
          <a:prstGeom prst="roundRect">
            <a:avLst>
              <a:gd name="adj" fmla="val 7619"/>
            </a:avLst>
          </a:prstGeom>
          <a:solidFill>
            <a:srgbClr val="F7F4EC">
              <a:alpha val="5000"/>
            </a:srgbClr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391275" y="2743200"/>
            <a:ext cx="4962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第三方资源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391275" y="2962275"/>
            <a:ext cx="49625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仅使用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Python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标准库，无第三方依赖；演示数据全部自造（模拟），不含真实企业数据与外部素材。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6238875" y="3724275"/>
            <a:ext cx="5267325" cy="1000125"/>
          </a:xfrm>
          <a:prstGeom prst="roundRect">
            <a:avLst>
              <a:gd name="adj" fmla="val 7619"/>
            </a:avLst>
          </a:prstGeom>
          <a:solidFill>
            <a:srgbClr val="F7F4EC">
              <a:alpha val="5000"/>
            </a:srgbClr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6391275" y="3857625"/>
            <a:ext cx="4962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使用边界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391275" y="4076700"/>
            <a:ext cx="49625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LLM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仅用于「把群聊抽成结构化字段」；缺失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冲突判定、状态流转、话术模板全部为本地规则，可复现、可回归。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6238875" y="5133975"/>
            <a:ext cx="5267325" cy="1000125"/>
          </a:xfrm>
          <a:prstGeom prst="roundRect">
            <a:avLst>
              <a:gd name="adj" fmla="val 7619"/>
            </a:avLst>
          </a:prstGeom>
          <a:solidFill>
            <a:srgbClr val="F7F4EC">
              <a:alpha val="5000"/>
            </a:srgbClr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391275" y="5267325"/>
            <a:ext cx="4962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开发记录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391275" y="5486400"/>
            <a:ext cx="49625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GitHub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仓库保留完整提交与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PR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记录（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#1–#38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）；含模块说明、测试报告与缺陷台账，可随时核验。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685800" y="622935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瓯单通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企业智能体赛道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队伍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XO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1049000" y="62293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08 / 10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71" name="" descr="&lt;Slide style={{ width: 1280, height: 720, background: '#0F172A', padding: '40px 72px', flexDirection: 'column' }}&gt;&#10;  &lt;Box style={{ height: 84, flexDirection: 'column', justifyContent: 'center' }}&gt;&#10;    &lt;Text style={{ fontSize: 34, fontWeight: 'bold', color: '#F7F4EC' }}&gt;开发历程：从线上开题到现场展示&lt;/Text&gt;&#10;    &lt;Text style={{ fontSize: 16, color: '#94A3B8', marginTop: 6 }}&gt;全程在赛期内完成，仓库保留完整提交记录，可供核验&lt;/Text&gt;&#10;  &lt;/Box&gt;&#10;  &lt;Box style={{ flex: 1, position: 'relative', flexDirection: 'row', gap: 20, paddingTop: 30 }}&gt;&#10;    &lt;Box style={{ position: 'absolute', top: 66, left: 8, right: 8, height: 2, background: 'rgba(6,182,212,0.35)' }} /&gt;&#10;    &lt;Box style={{ flex: 1, flexDirection: 'column', gap: 8 }}&gt;&#10;      &lt;Text style={{ fontSize: 28, fontWeight: 'bold', color: '#06B6D4', fontFamily: 'Consolas' }}&gt;10.19&lt;/Text&gt;&#10;      &lt;Box style={{ width: 14, height: 14, borderRadius: 7, background: '#06B6D4', marginTop: 2 }} /&gt;&#10;      &lt;Text style={{ fontSize: 18, fontWeight: 'bold', color: '#F7F4EC', marginTop: 6 }}&gt;线上开题&lt;/Text&gt;&#10;      &lt;Text style={{ fontSize: 13, color: '#94A3B8', lineHeight: 1.7 }}&gt;看赛题与规则，确认方向「碎片化沟通中的订单与任务协同」，完成组队与模块分工。&lt;/Text&gt;&#10;    &lt;/Box&gt;&#10;    &lt;Box style={{ flex: 1, flexDirection: 'column', gap: 8 }}&gt;&#10;      &lt;Text style={{ fontSize: 28, fontWeight: 'bold', color: '#06B6D4', fontFamily: 'Consolas' }}&gt;10.23&lt;/Text&gt;&#10;      &lt;Box style={{ width: 14, height: 14, borderRadius: 7, background: '#06B6D4', marginTop: 2 }} /&gt;&#10;      &lt;Text style={{ fontSize: 18, fontWeight: 'bold', color: '#F7F4EC', marginTop: 6 }}&gt;线上开发&lt;/Text&gt;&#10;      &lt;Text style={{ fontSize: 13, color: '#94A3B8', lineHeight: 1.7 }}&gt;落地核心链路：群聊抽取 → 缺失 / 冲突判定 → 协同台账；首版可运行，含网页演示。&lt;/Text&gt;&#10;    &lt;/Box&gt;&#10;    &lt;Box style={{ flex: 1, flexDirection: 'column', gap: 8 }}&gt;&#10;      &lt;Text style={{ fontSize: 28, fontWeight: 'bold', color: '#06B6D4', fontFamily: 'Consolas' }}&gt;10.24&lt;/Text&gt;&#10;      &lt;Box style={{ width: 14, height: 14, borderRadius: 7, background: '#06B6D4', marginTop: 2 }} /&gt;&#10;      &lt;Text style={{ fontSize: 18, fontWeight: 'bold', color: '#F7F4EC', marginTop: 6 }}&gt;现场集中开发&lt;/Text&gt;&#10;      &lt;Text style={{ fontSize: 13, color: '#94A3B8', lineHeight: 1.7 }}&gt;联调网页端与四维筛选，跑五套回归、修复缺陷；17:00 前完成可运行包与材料提交。&lt;/Text&gt;&#10;    &lt;/Box&gt;&#10;    &lt;Box style={{ flex: 1, flexDirection: 'column', gap: 8 }}&gt;&#10;      &lt;Text style={{ fontSize: 28, fontWeight: 'bold', color: '#06B6D4', fontFamily: 'Consolas' }}&gt;10.25&lt;/Text&gt;&#10;      &lt;Box style={{ width: 14, height: 14, borderRadius: 7, background: '#06B6D4', marginTop: 2 }} /&gt;&#10;      &lt;Text style={{ fontSize: 18, fontWeight: 'bold', color: '#F7F4EC', marginTop: 6 }}&gt;展示与路演&lt;/Text&gt;&#10;      &lt;Text style={{ fontSize: 13, color: '#94A3B8', lineHeight: 1.7 }}&gt;园博园现场展示与试玩，接受评委与企业代表追问；若入围，参加下午决赛路演。&lt;/Text&gt;&#10;    &lt;/Box&gt;&#10;  &lt;/Box&gt;&#10;  &lt;Box style={{ height: 92, background: 'rgba(247,244,236,0.05)', borderRadius: 10, padding: '0 22px', flexDirection: 'row', alignItems: 'center', justifyContent: 'space-between' }}&gt;&#10;    &lt;Box style={{ flexDirection: 'column', gap: 3 }}&gt;&#10;      &lt;Text style={{ fontSize: 15, fontWeight: 'bold', color: '#F7F4EC' }}&gt;开发记录可核验&lt;/Text&gt;&#10;      &lt;Text style={{ fontSize: 12, color: '#94A3B8' }}&gt;GitHub 提交 / PR #1–#38 ｜ 模块说明 ｜ 测试报告 ｜ 缺陷台账&lt;/Text&gt;&#10;    &lt;/Box&gt;&#10;    &lt;Box style={{ flexDirection: 'column', gap: 3, alignItems: 'flex-end' }}&gt;&#10;      &lt;Text style={{ fontSize: 15, fontWeight: 'bold', color: '#F7F4EC' }}&gt;线上与现场分工&lt;/Text&gt;&#10;      &lt;Text style={{ fontSize: 12, color: '#94A3B8' }}&gt;线上：抽取 / 判定 / 台账 / 测试 ｜ 现场：前端联调 / 修复 / 打包&lt;/Text&gt;&#10;    &lt;/Box&gt;&#10;  &lt;/Box&gt;&#10;  &lt;Box style={{ height: 36, flexDirection: 'row', justifyContent: 'space-between', alignItems: 'center' }}&gt;&#10;    &lt;Text style={{ fontSize: 14, color: '#64748B' }}&gt;瓯单通 · 企业智能体赛道 · 队伍 XO&lt;/Text&gt;&#10;    &lt;Text style={{ fontSize: 14, color: '#64748B' }}&gt;09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85800" y="466725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开发历程：从线上开题到现场展示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85800" y="914400"/>
            <a:ext cx="1082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全程在赛期内完成，仓库保留完整提交记录，可供核验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685800" y="5257800"/>
            <a:ext cx="10820400" cy="876300"/>
          </a:xfrm>
          <a:prstGeom prst="roundRect">
            <a:avLst>
              <a:gd name="adj" fmla="val 10870"/>
            </a:avLst>
          </a:prstGeom>
          <a:solidFill>
            <a:srgbClr val="F7F4EC">
              <a:alpha val="5000"/>
            </a:srgbClr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895350" y="5524500"/>
            <a:ext cx="3276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开发记录可核验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95350" y="5724525"/>
            <a:ext cx="3276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GitHub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提交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PR #1–#38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｜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模块说明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｜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测试报告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｜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缺陷台账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10296525" y="552450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线上与现场分工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010525" y="5724525"/>
            <a:ext cx="3286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线上：抽取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判定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台账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测试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｜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现场：前端联调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修复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打包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685800" y="622935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瓯单通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企业智能体赛道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队伍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XO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11049000" y="62293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09 / 10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5622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Consolas"/>
                <a:ea typeface="Consolas"/>
              </a:rPr>
              <a:t>10.19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685800" y="18859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85800" y="2152650"/>
            <a:ext cx="25622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7F4EC"/>
                </a:solidFill>
                <a:latin typeface="Microsoft YaHei"/>
                <a:ea typeface="Microsoft YaHei"/>
              </a:rPr>
              <a:t>线上开题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85800" y="2438400"/>
            <a:ext cx="25622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看赛题与规则，确认方向「碎片化沟通中的订单与任务协同」，完成组队与模块分工。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3438525" y="1466850"/>
            <a:ext cx="25622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Consolas"/>
                <a:ea typeface="Consolas"/>
              </a:rPr>
              <a:t>10.23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3438525" y="18859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3438525" y="2152650"/>
            <a:ext cx="25622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7F4EC"/>
                </a:solidFill>
                <a:latin typeface="Microsoft YaHei"/>
                <a:ea typeface="Microsoft YaHei"/>
              </a:rPr>
              <a:t>线上开发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3438525" y="2438400"/>
            <a:ext cx="25622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落地核心链路：群聊抽取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缺失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冲突判定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协同台账；首版可运行，含网页演示。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6191250" y="1466850"/>
            <a:ext cx="25622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Consolas"/>
                <a:ea typeface="Consolas"/>
              </a:rPr>
              <a:t>10.24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6191250" y="18859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6191250" y="2152650"/>
            <a:ext cx="25622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7F4EC"/>
                </a:solidFill>
                <a:latin typeface="Microsoft YaHei"/>
                <a:ea typeface="Microsoft YaHei"/>
              </a:rPr>
              <a:t>现场集中开发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191250" y="2438400"/>
            <a:ext cx="25622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联调网页端与四维筛选，跑五套回归、修复缺陷；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17:00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前完成可运行包与材料提交。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943975" y="1466850"/>
            <a:ext cx="25622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Consolas"/>
                <a:ea typeface="Consolas"/>
              </a:rPr>
              <a:t>10.25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8943975" y="18859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943975" y="2152650"/>
            <a:ext cx="25622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7F4EC"/>
                </a:solidFill>
                <a:latin typeface="Microsoft YaHei"/>
                <a:ea typeface="Microsoft YaHei"/>
              </a:rPr>
              <a:t>展示与路演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943975" y="2438400"/>
            <a:ext cx="25622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园博园现场展示与试玩，接受评委与企业代表追问；若入围，参加下午决赛路演。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762000" y="1809750"/>
            <a:ext cx="10668000" cy="19050"/>
          </a:xfrm>
          <a:prstGeom prst="rect">
            <a:avLst/>
          </a:prstGeom>
          <a:solidFill>
            <a:srgbClr val="06B6D4">
              <a:alpha val="35000"/>
            </a:srgbClr>
          </a:solidFill>
          <a:ln/>
        </p:spPr>
        <p:txBody>
          <a:bodyPr/>
          <a:p/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3" name="" descr="&lt;Slide style={{ width: 1280, height: 720, background: '#0F172A', position: 'relative', overflow: 'hidden', flexDirection: 'column', alignItems: 'center', justifyContent: 'center' }}&gt;&#10;  &lt;Box style={{ position: 'absolute', top: 0, left: 0, right: 0, height: 6, background: 'linear-gradient(90deg, #3B82F6 0%, #06B6D4 100%)' }} /&gt;&#10;  &lt;Box style={{ position: 'absolute', bottom: -120, left: -80, width: 420, height: 420, borderRadius: 210, background: 'rgba(6,182,212,0.06)' }} /&gt;&#10;  &lt;Box style={{ position: 'absolute', top: -140, right: -100, width: 380, height: 380, borderRadius: 190, background: 'rgba(59,130,246,0.08)' }} /&gt;&#10;  &lt;Text style={{ fontSize: 15, color: '#06B6D4', letterSpacing: 6, fontWeight: 'bold' }}&gt;瓯 单 通 · 队 伍 X O&lt;/Text&gt;&#10;  &lt;Box style={{ flexDirection: 'column', alignItems: 'center', marginTop: 26, gap: 2 }}&gt;&#10;    &lt;Text style={{ fontSize: 52, fontWeight: 'bold', color: '#F7F4EC', lineHeight: 1.35, textAlign: 'center' }}&gt;不用上 ERP，也不改变&lt;/Text&gt;&#10;    &lt;Text style={{ fontSize: 52, fontWeight: 'bold', lineHeight: 1.35, textAlign: 'center', backgroundImage: 'linear-gradient(135deg, #3B82F6 0%, #06B6D4 100%)', backgroundClip: 'text', color: 'transparent' }}&gt;老板用微信的习惯&lt;/Text&gt;&#10;  &lt;/Box&gt;&#10;  &lt;Text style={{ fontSize: 22, color: '#94A3B8', marginTop: 26 }}&gt;订单与任务，自己长成一张实时台账&lt;/Text&gt;&#10;  &lt;Box style={{ flexDirection: 'row', gap: 14, marginTop: 34 }}&gt;&#10;    &lt;Box style={{ padding: '9px 20px', borderRadius: 20, background: 'rgba(6,182,212,0.10)', border: '1px solid rgba(6,182,212,0.32)' }}&gt;&#10;      &lt;Text style={{ fontSize: 15, color: '#67E8F9' }}&gt;实时可查&lt;/Text&gt;&#10;    &lt;/Box&gt;&#10;    &lt;Box style={{ padding: '9px 20px', borderRadius: 20, background: 'rgba(6,182,212,0.10)', border: '1px solid rgba(6,182,212,0.32)' }}&gt;&#10;      &lt;Text style={{ fontSize: 15, color: '#67E8F9' }}&gt;变更留痕&lt;/Text&gt;&#10;    &lt;/Box&gt;&#10;    &lt;Box style={{ padding: '9px 20px', borderRadius: 20, background: 'rgba(6,182,212,0.10)', border: '1px solid rgba(6,182,212,0.32)' }}&gt;&#10;      &lt;Text style={{ fontSize: 15, color: '#67E8F9' }}&gt;不漏一单&lt;/Text&gt;&#10;    &lt;/Box&gt;&#10;  &lt;/Box&gt;&#10;  &lt;Text style={{ fontSize: 15, color: '#64748B', marginTop: 46 }}&gt;瓯单通 ｜ 队伍 XO ｜ 2026.10.24 ｜ 首届瓯客松 · INTERCITY HACK 温州场&lt;/Text&gt;&#10;  &lt;Text style={{ fontSize: 12, color: '#475569', marginTop: 8 }}&gt;演示数据均为自造模拟数据，不含任何真实企业信息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019675" y="1400175"/>
            <a:ext cx="2152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450">
                <a:solidFill>
                  <a:srgbClr val="06B6D4"/>
                </a:solidFill>
                <a:latin typeface="Microsoft YaHei"/>
                <a:ea typeface="Microsoft YaHei"/>
              </a:rPr>
              <a:t>瓯</a:t>
            </a:r>
            <a:r>
              <a:rPr lang="en-US" sz="1125" b="1" spc="450">
                <a:solidFill>
                  <a:srgbClr val="06B6D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 b="1" spc="450">
                <a:solidFill>
                  <a:srgbClr val="06B6D4"/>
                </a:solidFill>
                <a:latin typeface="Microsoft YaHei"/>
                <a:ea typeface="Microsoft YaHei"/>
              </a:rPr>
              <a:t>单</a:t>
            </a:r>
            <a:r>
              <a:rPr lang="en-US" sz="1125" b="1" spc="450">
                <a:solidFill>
                  <a:srgbClr val="06B6D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 b="1" spc="450">
                <a:solidFill>
                  <a:srgbClr val="06B6D4"/>
                </a:solidFill>
                <a:latin typeface="Microsoft YaHei"/>
                <a:ea typeface="Microsoft YaHei"/>
              </a:rPr>
              <a:t>通</a:t>
            </a:r>
            <a:r>
              <a:rPr lang="en-US" sz="1125" b="1" spc="450">
                <a:solidFill>
                  <a:srgbClr val="06B6D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 spc="450">
                <a:solidFill>
                  <a:srgbClr val="06B6D4"/>
                </a:solidFill>
                <a:latin typeface="Microsoft YaHei"/>
                <a:ea typeface="Microsoft YaHei"/>
              </a:rPr>
              <a:t>队</a:t>
            </a:r>
            <a:r>
              <a:rPr lang="en-US" sz="1125" b="1" spc="450">
                <a:solidFill>
                  <a:srgbClr val="06B6D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 b="1" spc="450">
                <a:solidFill>
                  <a:srgbClr val="06B6D4"/>
                </a:solidFill>
                <a:latin typeface="Microsoft YaHei"/>
                <a:ea typeface="Microsoft YaHei"/>
              </a:rPr>
              <a:t>伍</a:t>
            </a:r>
            <a:r>
              <a:rPr lang="en-US" sz="1125" b="1" spc="450">
                <a:solidFill>
                  <a:srgbClr val="06B6D4"/>
                </a:solidFill>
                <a:latin typeface="Microsoft YaHei"/>
                <a:ea typeface="Microsoft YaHei"/>
              </a:rPr>
              <a:t xml:space="preserve"> X O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562350" y="1819275"/>
            <a:ext cx="5067300" cy="809625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3900" b="1">
                <a:solidFill>
                  <a:srgbClr val="F7F4EC"/>
                </a:solidFill>
                <a:latin typeface="Microsoft YaHei"/>
                <a:ea typeface="Microsoft YaHei"/>
              </a:rPr>
              <a:t>不用上</a:t>
            </a:r>
            <a:r>
              <a:rPr lang="en-US" sz="3900" b="1">
                <a:solidFill>
                  <a:srgbClr val="F7F4EC"/>
                </a:solidFill>
                <a:latin typeface="Microsoft YaHei"/>
                <a:ea typeface="Microsoft YaHei"/>
              </a:rPr>
              <a:t xml:space="preserve"> ERP</a:t>
            </a:r>
            <a:r>
              <a:rPr lang="zh-CN" sz="3900" b="1">
                <a:solidFill>
                  <a:srgbClr val="F7F4EC"/>
                </a:solidFill>
                <a:latin typeface="Microsoft YaHei"/>
                <a:ea typeface="Microsoft YaHei"/>
              </a:rPr>
              <a:t>，也不改变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4114800" y="2647950"/>
            <a:ext cx="3962400" cy="809625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3900" b="1">
                <a:gradFill>
                  <a:gsLst>
                    <a:gs pos="0">
                      <a:srgbClr val="3B82F6"/>
                    </a:gs>
                    <a:gs pos="100000">
                      <a:srgbClr val="06B6D4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老板用微信的习惯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4419600" y="3705225"/>
            <a:ext cx="3352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订单与任务，自己长成一张实时台账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4533900" y="4286250"/>
            <a:ext cx="952500" cy="342900"/>
          </a:xfrm>
          <a:prstGeom prst="roundRect">
            <a:avLst>
              <a:gd name="adj" fmla="val 55556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4724400" y="43719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7E8F9"/>
                </a:solidFill>
                <a:latin typeface="Microsoft YaHei"/>
                <a:ea typeface="Microsoft YaHei"/>
              </a:rPr>
              <a:t>实时可查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5619750" y="4286250"/>
            <a:ext cx="952500" cy="342900"/>
          </a:xfrm>
          <a:prstGeom prst="roundRect">
            <a:avLst>
              <a:gd name="adj" fmla="val 55556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810250" y="43719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7E8F9"/>
                </a:solidFill>
                <a:latin typeface="Microsoft YaHei"/>
                <a:ea typeface="Microsoft YaHei"/>
              </a:rPr>
              <a:t>变更留痕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6705600" y="4286250"/>
            <a:ext cx="952500" cy="342900"/>
          </a:xfrm>
          <a:prstGeom prst="roundRect">
            <a:avLst>
              <a:gd name="adj" fmla="val 55556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896100" y="43719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7E8F9"/>
                </a:solidFill>
                <a:latin typeface="Microsoft YaHei"/>
                <a:ea typeface="Microsoft YaHei"/>
              </a:rPr>
              <a:t>不漏一单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3676650" y="5067300"/>
            <a:ext cx="4848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瓯单通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｜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队伍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XO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｜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2026.10.24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｜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首届瓯客松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INTERCITY HACK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温州场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781550" y="5314950"/>
            <a:ext cx="2628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Microsoft YaHei"/>
                <a:ea typeface="Microsoft YaHei"/>
              </a:rPr>
              <a:t>演示数据均为自造模拟数据，不含任何真实企业信息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-762000" y="4000500"/>
            <a:ext cx="4000500" cy="4000500"/>
          </a:xfrm>
          <a:custGeom>
            <a:pathLst>
              <a:path w="420" h="420">
                <a:moveTo>
                  <a:pt x="215" y="0"/>
                </a:moveTo>
                <a:lnTo>
                  <a:pt x="221" y="0"/>
                </a:lnTo>
                <a:lnTo>
                  <a:pt x="226" y="1"/>
                </a:lnTo>
                <a:lnTo>
                  <a:pt x="231" y="1"/>
                </a:lnTo>
                <a:lnTo>
                  <a:pt x="237" y="2"/>
                </a:lnTo>
                <a:lnTo>
                  <a:pt x="242" y="2"/>
                </a:lnTo>
                <a:lnTo>
                  <a:pt x="247" y="3"/>
                </a:lnTo>
                <a:lnTo>
                  <a:pt x="252" y="4"/>
                </a:lnTo>
                <a:lnTo>
                  <a:pt x="257" y="5"/>
                </a:lnTo>
                <a:lnTo>
                  <a:pt x="262" y="7"/>
                </a:lnTo>
                <a:lnTo>
                  <a:pt x="267" y="8"/>
                </a:lnTo>
                <a:lnTo>
                  <a:pt x="272" y="9"/>
                </a:lnTo>
                <a:lnTo>
                  <a:pt x="277" y="11"/>
                </a:lnTo>
                <a:lnTo>
                  <a:pt x="282" y="13"/>
                </a:lnTo>
                <a:lnTo>
                  <a:pt x="287" y="15"/>
                </a:lnTo>
                <a:lnTo>
                  <a:pt x="292" y="17"/>
                </a:lnTo>
                <a:lnTo>
                  <a:pt x="296" y="19"/>
                </a:lnTo>
                <a:lnTo>
                  <a:pt x="301" y="21"/>
                </a:lnTo>
                <a:lnTo>
                  <a:pt x="306" y="23"/>
                </a:lnTo>
                <a:lnTo>
                  <a:pt x="310" y="25"/>
                </a:lnTo>
                <a:lnTo>
                  <a:pt x="314" y="28"/>
                </a:lnTo>
                <a:lnTo>
                  <a:pt x="319" y="30"/>
                </a:lnTo>
                <a:lnTo>
                  <a:pt x="323" y="33"/>
                </a:lnTo>
                <a:lnTo>
                  <a:pt x="327" y="36"/>
                </a:lnTo>
                <a:lnTo>
                  <a:pt x="332" y="39"/>
                </a:lnTo>
                <a:lnTo>
                  <a:pt x="336" y="42"/>
                </a:lnTo>
                <a:lnTo>
                  <a:pt x="340" y="45"/>
                </a:lnTo>
                <a:lnTo>
                  <a:pt x="344" y="48"/>
                </a:lnTo>
                <a:lnTo>
                  <a:pt x="347" y="51"/>
                </a:lnTo>
                <a:lnTo>
                  <a:pt x="351" y="55"/>
                </a:lnTo>
                <a:lnTo>
                  <a:pt x="355" y="58"/>
                </a:lnTo>
                <a:lnTo>
                  <a:pt x="358" y="62"/>
                </a:lnTo>
                <a:lnTo>
                  <a:pt x="362" y="65"/>
                </a:lnTo>
                <a:lnTo>
                  <a:pt x="365" y="69"/>
                </a:lnTo>
                <a:lnTo>
                  <a:pt x="369" y="73"/>
                </a:lnTo>
                <a:lnTo>
                  <a:pt x="372" y="76"/>
                </a:lnTo>
                <a:lnTo>
                  <a:pt x="375" y="80"/>
                </a:lnTo>
                <a:lnTo>
                  <a:pt x="378" y="84"/>
                </a:lnTo>
                <a:lnTo>
                  <a:pt x="381" y="88"/>
                </a:lnTo>
                <a:lnTo>
                  <a:pt x="384" y="93"/>
                </a:lnTo>
                <a:lnTo>
                  <a:pt x="387" y="97"/>
                </a:lnTo>
                <a:lnTo>
                  <a:pt x="390" y="101"/>
                </a:lnTo>
                <a:lnTo>
                  <a:pt x="392" y="106"/>
                </a:lnTo>
                <a:lnTo>
                  <a:pt x="395" y="110"/>
                </a:lnTo>
                <a:lnTo>
                  <a:pt x="397" y="114"/>
                </a:lnTo>
                <a:lnTo>
                  <a:pt x="399" y="119"/>
                </a:lnTo>
                <a:lnTo>
                  <a:pt x="401" y="124"/>
                </a:lnTo>
                <a:lnTo>
                  <a:pt x="403" y="128"/>
                </a:lnTo>
                <a:lnTo>
                  <a:pt x="405" y="133"/>
                </a:lnTo>
                <a:lnTo>
                  <a:pt x="407" y="138"/>
                </a:lnTo>
                <a:lnTo>
                  <a:pt x="409" y="143"/>
                </a:lnTo>
                <a:lnTo>
                  <a:pt x="411" y="148"/>
                </a:lnTo>
                <a:lnTo>
                  <a:pt x="412" y="153"/>
                </a:lnTo>
                <a:lnTo>
                  <a:pt x="413" y="158"/>
                </a:lnTo>
                <a:lnTo>
                  <a:pt x="415" y="163"/>
                </a:lnTo>
                <a:lnTo>
                  <a:pt x="416" y="168"/>
                </a:lnTo>
                <a:lnTo>
                  <a:pt x="417" y="173"/>
                </a:lnTo>
                <a:lnTo>
                  <a:pt x="418" y="178"/>
                </a:lnTo>
                <a:lnTo>
                  <a:pt x="418" y="183"/>
                </a:lnTo>
                <a:lnTo>
                  <a:pt x="419" y="189"/>
                </a:lnTo>
                <a:lnTo>
                  <a:pt x="419" y="194"/>
                </a:lnTo>
                <a:lnTo>
                  <a:pt x="420" y="199"/>
                </a:lnTo>
                <a:lnTo>
                  <a:pt x="420" y="205"/>
                </a:lnTo>
                <a:lnTo>
                  <a:pt x="420" y="210"/>
                </a:lnTo>
                <a:lnTo>
                  <a:pt x="420" y="215"/>
                </a:lnTo>
                <a:lnTo>
                  <a:pt x="420" y="221"/>
                </a:lnTo>
                <a:lnTo>
                  <a:pt x="419" y="226"/>
                </a:lnTo>
                <a:lnTo>
                  <a:pt x="419" y="231"/>
                </a:lnTo>
                <a:lnTo>
                  <a:pt x="418" y="237"/>
                </a:lnTo>
                <a:lnTo>
                  <a:pt x="418" y="242"/>
                </a:lnTo>
                <a:lnTo>
                  <a:pt x="417" y="247"/>
                </a:lnTo>
                <a:lnTo>
                  <a:pt x="416" y="252"/>
                </a:lnTo>
                <a:lnTo>
                  <a:pt x="415" y="257"/>
                </a:lnTo>
                <a:lnTo>
                  <a:pt x="413" y="262"/>
                </a:lnTo>
                <a:lnTo>
                  <a:pt x="412" y="267"/>
                </a:lnTo>
                <a:lnTo>
                  <a:pt x="411" y="272"/>
                </a:lnTo>
                <a:lnTo>
                  <a:pt x="409" y="277"/>
                </a:lnTo>
                <a:lnTo>
                  <a:pt x="407" y="282"/>
                </a:lnTo>
                <a:lnTo>
                  <a:pt x="405" y="287"/>
                </a:lnTo>
                <a:lnTo>
                  <a:pt x="403" y="292"/>
                </a:lnTo>
                <a:lnTo>
                  <a:pt x="401" y="296"/>
                </a:lnTo>
                <a:lnTo>
                  <a:pt x="400" y="300"/>
                </a:lnTo>
                <a:lnTo>
                  <a:pt x="80" y="300"/>
                </a:lnTo>
                <a:lnTo>
                  <a:pt x="80" y="45"/>
                </a:lnTo>
                <a:lnTo>
                  <a:pt x="80" y="45"/>
                </a:lnTo>
                <a:lnTo>
                  <a:pt x="84" y="42"/>
                </a:lnTo>
                <a:lnTo>
                  <a:pt x="88" y="39"/>
                </a:lnTo>
                <a:lnTo>
                  <a:pt x="93" y="36"/>
                </a:lnTo>
                <a:lnTo>
                  <a:pt x="97" y="33"/>
                </a:lnTo>
                <a:lnTo>
                  <a:pt x="101" y="30"/>
                </a:lnTo>
                <a:lnTo>
                  <a:pt x="106" y="28"/>
                </a:lnTo>
                <a:lnTo>
                  <a:pt x="110" y="25"/>
                </a:lnTo>
                <a:lnTo>
                  <a:pt x="114" y="23"/>
                </a:lnTo>
                <a:lnTo>
                  <a:pt x="119" y="21"/>
                </a:lnTo>
                <a:lnTo>
                  <a:pt x="124" y="19"/>
                </a:lnTo>
                <a:lnTo>
                  <a:pt x="128" y="17"/>
                </a:lnTo>
                <a:lnTo>
                  <a:pt x="133" y="15"/>
                </a:lnTo>
                <a:lnTo>
                  <a:pt x="138" y="13"/>
                </a:lnTo>
                <a:lnTo>
                  <a:pt x="143" y="11"/>
                </a:lnTo>
                <a:lnTo>
                  <a:pt x="148" y="9"/>
                </a:lnTo>
                <a:lnTo>
                  <a:pt x="153" y="8"/>
                </a:lnTo>
                <a:lnTo>
                  <a:pt x="158" y="7"/>
                </a:lnTo>
                <a:lnTo>
                  <a:pt x="163" y="5"/>
                </a:lnTo>
                <a:lnTo>
                  <a:pt x="168" y="4"/>
                </a:lnTo>
                <a:lnTo>
                  <a:pt x="173" y="3"/>
                </a:lnTo>
                <a:lnTo>
                  <a:pt x="178" y="2"/>
                </a:lnTo>
                <a:lnTo>
                  <a:pt x="183" y="2"/>
                </a:lnTo>
                <a:lnTo>
                  <a:pt x="189" y="1"/>
                </a:lnTo>
                <a:lnTo>
                  <a:pt x="194" y="1"/>
                </a:lnTo>
                <a:lnTo>
                  <a:pt x="199" y="0"/>
                </a:lnTo>
                <a:lnTo>
                  <a:pt x="205" y="0"/>
                </a:lnTo>
                <a:lnTo>
                  <a:pt x="210" y="0"/>
                </a:lnTo>
                <a:close/>
              </a:path>
            </a:pathLst>
          </a:custGeom>
          <a:solidFill>
            <a:srgbClr val="06B6D4">
              <a:alpha val="6000"/>
            </a:srgbClr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9525000" y="-1333500"/>
            <a:ext cx="3619500" cy="3619500"/>
          </a:xfrm>
          <a:custGeom>
            <a:pathLst>
              <a:path w="380" h="380">
                <a:moveTo>
                  <a:pt x="280" y="357"/>
                </a:moveTo>
                <a:cubicBezTo>
                  <a:pt x="213" y="393"/>
                  <a:pt x="131" y="386"/>
                  <a:pt x="72" y="339"/>
                </a:cubicBezTo>
                <a:cubicBezTo>
                  <a:pt x="12" y="291"/>
                  <a:pt x="-13" y="213"/>
                  <a:pt x="7" y="140"/>
                </a:cubicBezTo>
                <a:lnTo>
                  <a:pt x="280" y="140"/>
                </a:lnTo>
                <a:close/>
              </a:path>
            </a:pathLst>
          </a:cu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2026-10-24T16:29:58Z</dcterms:created>
  <dcterms:modified xsi:type="dcterms:W3CDTF">2026-10-24T16:29:58Z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{"AIGC":{"Label":"1","ContentProducer":"00119111010856365494821B355","ProduceID":"01a16d059b647901b134886e81fdf1b4","ReservedCode1":"","ContentPropagator":"00119111010856365494821B355","PropagateID":"01a16d059b647901b134886e81fdf1b4","ReservedCode2":""}}</vt:lpwstr>
  </property>
</Properties>
</file>